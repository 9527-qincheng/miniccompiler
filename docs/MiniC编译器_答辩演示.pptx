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05840" y="5989320"/>
            <a:ext cx="2011680" cy="50292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54680" y="5989320"/>
            <a:ext cx="1371600" cy="5029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4813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EA5A5"/>
                </a:solidFill>
                <a:latin typeface="微软雅黑"/>
              </a:rPr>
              <a:t>计算机软件实训 · 第 5 组 · 项目答辩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100584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6200" b="1">
                <a:solidFill>
                  <a:srgbClr val="FFFFFF"/>
                </a:solidFill>
                <a:latin typeface="微软雅黑"/>
              </a:rPr>
              <a:t>MiniC 编译器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1272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0">
                <a:solidFill>
                  <a:srgbClr val="A9C2E8"/>
                </a:solidFill>
                <a:latin typeface="微软雅黑"/>
              </a:rPr>
              <a:t>挑战版 · LL(1) 预测分析 · 六阶段全链路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4128" y="3913632"/>
            <a:ext cx="5120640" cy="18288"/>
          </a:xfrm>
          <a:prstGeom prst="rect">
            <a:avLst/>
          </a:prstGeom>
          <a:solidFill>
            <a:srgbClr val="3344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词法  →  语法  →  符号表  →  语义  →  中间代码  →  目标代码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C7D6E8"/>
                </a:solidFill>
                <a:latin typeface="微软雅黑"/>
              </a:rPr>
              <a:t>10 个源文件 7,504 行 C++17  ·  122 个用例  ·  11 套回归全绿  ·  912 例随机差分零不一致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61447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2026-10-27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614476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0">
                <a:solidFill>
                  <a:srgbClr val="7E93B0"/>
                </a:solidFill>
                <a:latin typeface="微软雅黑"/>
              </a:rPr>
              <a:t>组长：鲍方乐  2416050318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01  项目概览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一个能编译、能链接、能跑出结果的编译器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72768"/>
            <a:ext cx="25420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2E6CE6"/>
                </a:solidFill>
                <a:latin typeface="微软雅黑"/>
              </a:rPr>
              <a:t>7,504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行 C++17 源码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10 个 .cpp + 9 个头文件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9856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572768"/>
            <a:ext cx="25420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8A3E"/>
                </a:solidFill>
                <a:latin typeface="微软雅黑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套回归测试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全绿，退出码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572768"/>
            <a:ext cx="25420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3912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0EA5A5"/>
                </a:solidFill>
                <a:latin typeface="微软雅黑"/>
              </a:rPr>
              <a:t>122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个 .mc 测试用例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6 类黄金基线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87968" y="1572768"/>
            <a:ext cx="2542032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87968" y="1572768"/>
            <a:ext cx="25420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87968" y="1773936"/>
            <a:ext cx="254203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C2770A"/>
                </a:solidFill>
                <a:latin typeface="微软雅黑"/>
              </a:rPr>
              <a:t>912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7968" y="2322576"/>
            <a:ext cx="2542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例差分验证</a:t>
            </a:r>
          </a:p>
          <a:p>
            <a:pPr algn="ctr"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两组独立基准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273552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交付状态：项目书要求的 5 项交付物全部完成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749039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31335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①  编译器源码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3840479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六段流水线全部接通，gcc 零错误零警告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3803903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224527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306823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②  技术文档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4315967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语言规格 / 系统架构 / 数据结构 / 接口定义，四份全部入库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4279391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4700016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78231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③  测试用例集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791455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9 套编译阶段回归 + 2 套 GUI 冒烟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4754879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" y="5175504"/>
            <a:ext cx="1074420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525780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④  验收报告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46120" y="5266944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docs/验收报告.md，五模块逐条十字段记录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23036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5650992"/>
            <a:ext cx="10744200" cy="40233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73328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⑤  答辩材料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46120" y="5742431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微软雅黑"/>
              </a:rPr>
              <a:t>本 PPT（17 页）+ docs/项目总结.md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5705855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>
                <a:solidFill>
                  <a:srgbClr val="158A3E"/>
                </a:solidFill>
                <a:latin typeface="微软雅黑"/>
              </a:rPr>
              <a:t>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02  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六阶段流水线：每一步都留下可核验的产物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1700784" cy="6858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CLex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2E6CE6"/>
                </a:solidFill>
                <a:latin typeface="微软雅黑"/>
              </a:rPr>
              <a:t>.token.txt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28142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430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4308" y="1627632"/>
            <a:ext cx="1700784" cy="685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430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430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CParser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430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.parse.txt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0EA5A5"/>
                </a:solidFill>
                <a:latin typeface="微软雅黑"/>
              </a:rPr>
              <a:t>.ast.txt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7880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6168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1627632"/>
            <a:ext cx="1700784" cy="6858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168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6168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SymbolTable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158A3E"/>
                </a:solidFill>
                <a:latin typeface="微软雅黑"/>
              </a:rPr>
              <a:t>.sym.txt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7618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906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9068" y="1627632"/>
            <a:ext cx="1700784" cy="6858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906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SemanticAnalyzer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诊断输出</a:t>
            </a:r>
          </a:p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2770A"/>
                </a:solidFill>
                <a:latin typeface="微软雅黑"/>
              </a:rPr>
              <a:t>(stderr)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7356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5644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1627632"/>
            <a:ext cx="1700784" cy="685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IRGenerator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8B5CF6"/>
                </a:solidFill>
                <a:latin typeface="微软雅黑"/>
              </a:rPr>
              <a:t>.quad.txt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870948" y="2130552"/>
            <a:ext cx="169164" cy="146304"/>
          </a:xfrm>
          <a:prstGeom prst="rightArrow">
            <a:avLst/>
          </a:prstGeom>
          <a:solidFill>
            <a:srgbClr val="C2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053828" y="1627632"/>
            <a:ext cx="1700784" cy="1170432"/>
          </a:xfrm>
          <a:prstGeom prst="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3828" y="1627632"/>
            <a:ext cx="1700784" cy="685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3828" y="1810512"/>
            <a:ext cx="1700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3828" y="2103120"/>
            <a:ext cx="1700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CCodeGen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3828" y="239572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1">
                <a:solidFill>
                  <a:srgbClr val="C0392B"/>
                </a:solidFill>
                <a:latin typeface="微软雅黑"/>
              </a:rPr>
              <a:t>.asm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3127248"/>
            <a:ext cx="1092708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246120"/>
            <a:ext cx="105156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41F38"/>
                </a:solidFill>
                <a:latin typeface="微软雅黑"/>
              </a:rPr>
              <a:t>门禁：语法/语义错都继续往下收集、最后统一 stderr 报错并 exit 1；只有目标代码保持门禁 —— 不拿残缺 AST 生成脏汇编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3913632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设计要点</a:t>
            </a:r>
          </a:p>
        </p:txBody>
      </p:sp>
      <p:sp>
        <p:nvSpPr>
          <p:cNvPr id="44" name="Oval 43"/>
          <p:cNvSpPr/>
          <p:nvPr/>
        </p:nvSpPr>
        <p:spPr>
          <a:xfrm>
            <a:off x="566928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7" y="4315968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按挑战版文法重写文法层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7" y="45399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105 条产生式 + 预测分析表驱动，不是手写递归下降</a:t>
            </a:r>
          </a:p>
        </p:txBody>
      </p:sp>
      <p:sp>
        <p:nvSpPr>
          <p:cNvPr id="47" name="Oval 46"/>
          <p:cNvSpPr/>
          <p:nvPr/>
        </p:nvSpPr>
        <p:spPr>
          <a:xfrm>
            <a:off x="566928" y="496519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7" y="4882896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六个阶段靠数据结构串起来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51069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TokenList → AST → 符号表 → CodeList，接口冻结在 docs/interface.md</a:t>
            </a:r>
          </a:p>
        </p:txBody>
      </p:sp>
      <p:sp>
        <p:nvSpPr>
          <p:cNvPr id="50" name="Oval 49"/>
          <p:cNvSpPr/>
          <p:nvPr/>
        </p:nvSpPr>
        <p:spPr>
          <a:xfrm>
            <a:off x="566928" y="553212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7" y="5449824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每种中间结果都落盘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5673852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出错也能看到已经走到哪一步，答辩现场可直接对照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44768" y="3913632"/>
            <a:ext cx="5349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与基础版的差异（挑战版）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44768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0EA5A5"/>
                </a:solidFill>
                <a:latin typeface="微软雅黑"/>
              </a:rPr>
              <a:t>LL(1) 表驱动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869680" y="4352544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18 类 AST 节点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58A3E"/>
                </a:solidFill>
                <a:latin typeface="微软雅黑"/>
              </a:rPr>
              <a:t>作用域链符号表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869680" y="4828031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2770A"/>
                </a:solidFill>
                <a:latin typeface="微软雅黑"/>
              </a:rPr>
              <a:t>真短路求值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44768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C0392B"/>
                </a:solidFill>
                <a:latin typeface="微软雅黑"/>
              </a:rPr>
              <a:t>int/float 双向转换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869680" y="5303520"/>
            <a:ext cx="2578608" cy="36576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8B5CF6"/>
                </a:solidFill>
                <a:latin typeface="微软雅黑"/>
              </a:rPr>
              <a:t>x86-64 汇编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44768" y="5815584"/>
            <a:ext cx="5349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基础版只有声明 / 赋值 / 表达式；挑战版新增字符串、字符、布尔、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数组、函数、控制流、短路求值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03  模块一 · 词法分析 CLex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把字符流切成 Token，并把每个 Token 的行列号记下来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实现要点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终结符编码表按设计文档编号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625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001~005 为类型关键字，031~046 为运算符，051 标识符，099 EOF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双字符运算符最长匹配优先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== != &lt;= &gt;= &amp;&amp; || ++ -- 先试两字符，失败再退回单字符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2783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4553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错误定位到行列并继续扫描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3695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遇到非法字符报错后跳过，一次编译列出全部词法错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831335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7490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F2937"/>
                </a:solidFill>
                <a:latin typeface="微软雅黑"/>
              </a:rPr>
              <a:t>字符与字符串支持转义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730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'\n' '\t' '\\' '\'' 与 \" 转义，未闭合能单独报错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54480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1F38"/>
                </a:solidFill>
                <a:latin typeface="微软雅黑"/>
              </a:rPr>
              <a:t>实测：tests/test.mc 的 Token 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1956816"/>
            <a:ext cx="5212080" cy="2395728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956816"/>
            <a:ext cx="41148" cy="239572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1" y="2066544"/>
            <a:ext cx="4937760" cy="22128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950">
                <a:solidFill>
                  <a:srgbClr val="64748B"/>
                </a:solidFill>
                <a:latin typeface="Consolas"/>
              </a:rPr>
              <a:t>// int a; float b; a = b + 1;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1:1   INT      'int'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1:5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1:6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2:1   FLOAT    'float'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2:7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2:8 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   IDENT    'a'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3:3   ASSIGN   '='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3:5   IDENT    'b'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3:7   PLUS     '+'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3:9   NUM_INT  '1'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3:10  SEMI     ';'</a:t>
            </a:r>
          </a:p>
          <a:p>
            <a:pPr>
              <a:lnSpc>
                <a:spcPct val="11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4:1   EOF      '&lt;eof&gt;'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590288"/>
            <a:ext cx="5138928" cy="157276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4754880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2770A"/>
                </a:solidFill>
                <a:latin typeface="微软雅黑"/>
              </a:rPr>
              <a:t>错误用例 lex_test / bad_lex 实测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074920"/>
            <a:ext cx="47548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bad_lex.mc 一次报出 8 条：非法字符 '@' '$'、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多点数字 3.14.15、字符串内换行、未闭合字符串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7A5A1E"/>
                </a:solidFill>
                <a:latin typeface="微软雅黑"/>
              </a:rPr>
              <a:t>—— 报错后不中断，全部列出后才退出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07408"/>
            <a:ext cx="5212080" cy="1755648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73952" y="457200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58A3E"/>
                </a:solidFill>
                <a:latin typeface="微软雅黑"/>
              </a:rPr>
              <a:t>验收结论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73952" y="4882896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6/6 词法回归用例通过；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41 个 Token 的 lex_test.mc 全部识别正确（含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STRING "hello world" 与转义字符）；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B4F2E"/>
                </a:solidFill>
                <a:latin typeface="微软雅黑"/>
              </a:rPr>
              <a:t>0 个 -Wchar-subscripts 警告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04  模块二 · 语法分析 CParser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105 条产生式的 LL(1) 预测分析表，全程无回溯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为什么是表驱动而不是递归下降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842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文法一改，行为自动跟着改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259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行为全部由 g_Grammar 数据驱动，代码里没有手写分支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2432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4203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可输出完整分析轨迹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7660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--dump-parse 给出每一步的符号栈与剩余输入，便于讲解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2644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1821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冲突在构造期就暴露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061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SELECT 集相交直接报错，而不是运行时才发现解析不了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877056"/>
            <a:ext cx="5029200" cy="658368"/>
          </a:xfrm>
          <a:prstGeom prst="rect">
            <a:avLst/>
          </a:prstGeom>
          <a:solidFill>
            <a:srgbClr val="F1F5F9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00507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程序 → 声明部分 语句部分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1F2937"/>
                </a:solidFill>
                <a:latin typeface="Consolas"/>
              </a:rPr>
              <a:t>声明部分 → 声明 声明部分 |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分析过程实测（tests/test.mc）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901952"/>
            <a:ext cx="5212080" cy="269748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901952"/>
            <a:ext cx="41148" cy="269748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1" y="2011680"/>
            <a:ext cx="4937760" cy="2514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产生式 105 条 / 分析步骤 68 / 结果 接受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步骤  符号栈          剩余输入      动作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1   $ 程序          int a ; ...   程序→声明部分 语句部分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2   $ 语句部分 声明部分  int ...   声明部分→声明 声明部分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3   $ ... 声明        int a ; ...   声明→类型 标识符 ;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48   $ 语句部分        ... ;        声明部分→ε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68   $               $            接受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7548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AST：19 项枚举 / 18 类在用，前序打印带行列号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084064"/>
            <a:ext cx="5212080" cy="10607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5084064"/>
            <a:ext cx="41148" cy="10607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28231" y="5193792"/>
            <a:ext cx="4937760" cy="8778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Program @1:1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Decl(INT a) @1:1     Decl(FLOAT b) @2:1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Assign @3:1 → Ident(a) @3:1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    BinOp(PLUS) @3:7 → Ident(b) @3:5 / Num(1) @3:9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05  模块三 · 符号表 SymbolTable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五张分表 + 作用域栈，让每次查名都只看得见该看见的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2029968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变量表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VarTbl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RecVar / RecArray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类型、行列、作用域层级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8036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627632"/>
            <a:ext cx="2029968" cy="5486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8036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常量表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ConstTbl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RecConst / BackfillConst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编译期常量回填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7492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627632"/>
            <a:ext cx="2029968" cy="54864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类型表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TypeTbl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5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int / float / bool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char / void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69479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79" y="1627632"/>
            <a:ext cx="2029968" cy="54864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79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过程表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ProcTbl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ProcEntry + ParamEntry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形参与四元式挂载点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64040" y="1627632"/>
            <a:ext cx="2029968" cy="1481328"/>
          </a:xfrm>
          <a:prstGeom prst="rect">
            <a:avLst/>
          </a:prstGeom>
          <a:solidFill>
            <a:srgbClr val="FFFF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627632"/>
            <a:ext cx="2029968" cy="54864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64040" y="1810512"/>
            <a:ext cx="202996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标号表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2084831"/>
            <a:ext cx="202996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64748B"/>
                </a:solidFill>
                <a:latin typeface="Consolas"/>
              </a:rPr>
              <a:t>LabelTbl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55480" y="2359152"/>
            <a:ext cx="1847088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if / while 生成的</a:t>
            </a:r>
          </a:p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1F2937"/>
                </a:solidFill>
                <a:latin typeface="微软雅黑"/>
              </a:rPr>
              <a:t>L1 L2 … 标号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3649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作用域链的维护</a:t>
            </a:r>
          </a:p>
        </p:txBody>
      </p:sp>
      <p:sp>
        <p:nvSpPr>
          <p:cNvPr id="32" name="Oval 31"/>
          <p:cNvSpPr/>
          <p:nvPr/>
        </p:nvSpPr>
        <p:spPr>
          <a:xfrm>
            <a:off x="685800" y="381304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373075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m_varScopeStack 是 vector&lt;unordered_map&gt;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547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进入左花括号压一层，退出右花括号弹一层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4714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" y="43891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 只看当前作用域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1314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内层同名变量合法遮蔽外层，不再误报重复定义</a:t>
            </a:r>
          </a:p>
        </p:txBody>
      </p:sp>
      <p:sp>
        <p:nvSpPr>
          <p:cNvPr id="38" name="Oval 37"/>
          <p:cNvSpPr/>
          <p:nvPr/>
        </p:nvSpPr>
        <p:spPr>
          <a:xfrm>
            <a:off x="685800" y="5129783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0120" y="504748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RecVarTbl 重名返回已存在下标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" y="527151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修掉 bccd313 的缺陷：重名时新建表项导致下标错乱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63640" y="33649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产物实样：.sym.txt 五节分表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730752"/>
            <a:ext cx="521208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6364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1" y="3840480"/>
            <a:ext cx="493776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Variables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a : INT    @line 1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b : FLOAT  @line 2  scope 1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Constants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1 : INT = 1  @line 3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Types ---   // --- Procedures ---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--- Labels ---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06  模块四 · 语义分析 SemanticAnalyzer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遍历 AST，一边登记符号一边校验类型，错误带行列号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做三件事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938528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1956816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①  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249424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把声明写进符号表，EnterScope / ExitScope 与块结构严格成对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724912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7008" y="274320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②  校验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035808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未声明就使用、重复定义、形参与体内变量同名、逻辑运算操作数必须是 bool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11296"/>
            <a:ext cx="384048" cy="384048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35295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③  推导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07008" y="3822191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DeduceBinOp 统一出口推导表达式类型，必要时产出隐式转换告警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诊断实测：18 例语义回归逐字比对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883664"/>
            <a:ext cx="5212080" cy="2596896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83664"/>
            <a:ext cx="41148" cy="2596896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93392"/>
            <a:ext cx="4937760" cy="2414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err_duplicate.mc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4:1: duplicate variable 'a'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err_undeclared.mc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6:5: undefined identifier b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err_logical_type.mc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logical operators require bool operands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err_bool_arith.mc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error: 7:11: arithmetic operands must be numeric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/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ok_float2int_warn.mc</a:t>
            </a:r>
          </a:p>
          <a:p>
            <a:pPr>
              <a:lnSpc>
                <a:spcPct val="120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warning: 7:5: implicit conversion from float to 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553712"/>
            <a:ext cx="10789920" cy="160934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70001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这一套是本次专门补的：四段前端里语义原本是唯一没有独立回归的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5029200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机制：用例首行写 /* expect: ok | err | warn:N */，runner 自动决定退出码与诊断条数，新增用例不必改脚本。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比对口径是完整的「文件:行:列: 消息」原文 —— 位置错一位、措辞改一个字都会 FAIL，能防止"报了个错就算过"。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反例自证：把 6:5 改成 5:5，立刻 [FAIL] diagnostics mismatch；把 expect 改成 ok，立刻 [FAIL] expected exit code 0, got 1。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07  模块五 · 中间代码 IRGenerator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两轮翻译：表达式递归求值出临时变量，语句摊平成跳转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两个必修缺陷（整改后已复验）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5179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5179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3350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修复前：a = a + 1 直接算，类型不匹配也不管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修复后：int 参与 float 运算自动插 ITOF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b, _T1, _T2)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// 回写 int 时反向转换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_T3, -,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566160"/>
            <a:ext cx="5120640" cy="170078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3566160"/>
            <a:ext cx="41148" cy="170078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675887"/>
            <a:ext cx="4846320" cy="151790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修复前：c = a &amp;&amp; b 两边都求值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64748B"/>
                </a:solidFill>
                <a:latin typeface="Consolas"/>
              </a:rPr>
              <a:t>// 修复后：真短路，短路侧的操作数从不参与求值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(JZ,  a, -, L1)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b, -, _T1)      // 只有 a 为真才执行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(JMP, -, -, L2)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L1, -, -)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0, -, _T1)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(LABEL, L2, -, -)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四元式回归：16 例锁结构不锁输出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865376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stdout：求值顺序、临时变量编号、标号编号、短路展开形态全变了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也照样输出对 —— 所以专门比对 .quad.txt 本身。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1518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267919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arith_int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883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左结合与 */ 优先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98094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9088" y="3044951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mixed_conv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305409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int↔float 双向转换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334670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341071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logic_short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41985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&amp;&amp; || 真短路展开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3712464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9088" y="377647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while_loop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378561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入口 LABEL + JZ + 回跳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63640" y="4078224"/>
            <a:ext cx="5212080" cy="310896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14223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call_nested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415137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PARA 不与外层交错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4443983"/>
            <a:ext cx="5212080" cy="3108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507992"/>
            <a:ext cx="2103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41F38"/>
                </a:solidFill>
                <a:latin typeface="Consolas"/>
              </a:rPr>
              <a:t>array_index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4517136"/>
            <a:ext cx="2834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读写共用 Q_INDEX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4956048"/>
            <a:ext cx="5212080" cy="1207008"/>
          </a:xfrm>
          <a:prstGeom prst="rect">
            <a:avLst/>
          </a:prstGeom>
          <a:solidFill>
            <a:srgbClr val="FDF4F4"/>
          </a:solidFill>
          <a:ln w="12700">
            <a:solidFill>
              <a:srgbClr val="EEC8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102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C0392B"/>
                </a:solidFill>
                <a:latin typeface="微软雅黑"/>
              </a:rPr>
              <a:t>常量折叠 + 基线命名的坑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5358384"/>
            <a:ext cx="48463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常量折叠：两侧皆常量时编译期算完，a = 1 + 2 * 3 → (=, 7, -, a)；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除零/溢出/&amp;&amp; || 故意不折。基线叫 *.expected.quad.txt 而非 *.quad.txt，</a:t>
            </a:r>
          </a:p>
          <a:p>
            <a:pPr algn="l">
              <a:lnSpc>
                <a:spcPct val="124000"/>
              </a:lnSpc>
            </a:pPr>
            <a:r>
              <a:rPr sz="1050" b="0">
                <a:solidFill>
                  <a:srgbClr val="7A2A22"/>
                </a:solidFill>
                <a:latin typeface="微软雅黑"/>
              </a:rPr>
              <a:t>否则会被随手编一次 test.mc 覆盖掉。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08  模块六 · 目标代码 CCodeGen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把四元式逐条翻成 x86-64，能被 gcc 直接汇编链接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两端对齐：四元式 ↔ 汇编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883664"/>
            <a:ext cx="5120640" cy="1371600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883664"/>
            <a:ext cx="41148" cy="137160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993392"/>
            <a:ext cx="4846320" cy="11887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(ITOF, 1, -, _T1)     cvtsi2ss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(+,    b, _T1, _T2)   addss    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(FTOI, _T2, -, _T3)   cvttss2si ...</a:t>
            </a:r>
          </a:p>
          <a:p>
            <a:pPr>
              <a:lnSpc>
                <a:spcPct val="116000"/>
              </a:lnSpc>
            </a:pPr>
            <a:r>
              <a:rPr sz="1050">
                <a:solidFill>
                  <a:srgbClr val="2D3A4A"/>
                </a:solidFill>
                <a:latin typeface="Consolas"/>
              </a:rPr>
              <a:t>(=,    _T3, -, a)     movl     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生成的汇编（tests/test.asm，47 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730752"/>
            <a:ext cx="5120640" cy="2432304"/>
          </a:xfrm>
          <a:prstGeom prst="rect">
            <a:avLst/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730752"/>
            <a:ext cx="41148" cy="2432304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840480"/>
            <a:ext cx="4846320" cy="22494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.globl main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.data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a: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b:      .zero 8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.text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main: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pushq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movq  %rsp, %rbp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subq  $32, %rsp        # 栈帧 32 字节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...                    # ITOF/addss/cvttss2si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.Lret0: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leave</a:t>
            </a:r>
          </a:p>
          <a:p>
            <a:pPr>
              <a:lnSpc>
                <a:spcPct val="112000"/>
              </a:lnSpc>
            </a:pPr>
            <a:r>
              <a:rPr sz="950">
                <a:solidFill>
                  <a:srgbClr val="2D3A4A"/>
                </a:solidFill>
                <a:latin typeface="Consolas"/>
              </a:rPr>
              <a:t>        ret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536192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关键决策：入口用 main 而不是 _start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883664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验收指南示例写的是 .globl _start，但目标平台定为 Windows MinGW：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_start 是 Linux 系统调用的入口，在 MinGW 下无法链接。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改成 global main + main: 后，gcc -x assembler 一条命令就能汇编并链接出 exe。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1F2937"/>
                </a:solidFill>
                <a:latin typeface="微软雅黑"/>
              </a:rPr>
              <a:t>该决策记录在 docs/interface.md 第 7、14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29184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正确性怎么证明的</a:t>
            </a:r>
          </a:p>
        </p:txBody>
      </p:sp>
      <p:sp>
        <p:nvSpPr>
          <p:cNvPr id="17" name="Oval 16"/>
          <p:cNvSpPr/>
          <p:nvPr/>
        </p:nvSpPr>
        <p:spPr>
          <a:xfrm>
            <a:off x="6263640" y="372160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59" y="363931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912 例两组差分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863339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gcc 编译等价 C 版对照 480 例 + Python 独立求值器 432 例，0 不一致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437997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42976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25 例端到端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5217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汇编 → 链接 → 运行 → 比对 stdout</a:t>
            </a:r>
          </a:p>
        </p:txBody>
      </p:sp>
      <p:sp>
        <p:nvSpPr>
          <p:cNvPr id="23" name="Oval 22"/>
          <p:cNvSpPr/>
          <p:nvPr/>
        </p:nvSpPr>
        <p:spPr>
          <a:xfrm>
            <a:off x="6263640" y="50383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9560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F2937"/>
                </a:solidFill>
                <a:latin typeface="微软雅黑"/>
              </a:rPr>
              <a:t>16 字节栈对齐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518007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微软雅黑"/>
              </a:rPr>
              <a:t>否则 printf 里会崩，属于最难查的一类 bug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5669280"/>
            <a:ext cx="5212080" cy="493776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5797296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ack(3,3) = 61 — 递归 + 多实参调用跑通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09  收尾修复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8 个后端缺陷：都是只有真跑起来才会暴露的问题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嵌套调用实参错序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f(g(1), g(2)) 里外层 PARA 与内层 CALL 交错，实参被对调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0176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645920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645920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27648" y="1755648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空函数不产函数体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205740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void f() {} 只生成标号就结束，调用时跳到不该去的地方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42448" y="1755648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出错仍产 .asm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前面阶段报错了还继续生成汇编，留下半截文件误导人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0176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339b6b4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615184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615184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7249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重复 main 标号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02666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用户自己也写 int main() 时与框架的 main: 撞名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2448" y="2724912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20a61f4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显式 return 被清零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 42; 之后又补了 return 0，结果恒为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80" y="3584448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26480" y="3584448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7648" y="369417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裸 return 带残值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7648" y="39959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return; 复用了上一个表达式的寄存器残留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42448" y="3694176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696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无 return 返回垃圾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96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int 函数不写 return 时返回栈上垃圾值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0176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e8a976d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553712"/>
            <a:ext cx="521208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553712"/>
            <a:ext cx="45720" cy="85953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663440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嵌套函数未拦截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27648" y="49651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函数里定义函数，文法允许但语义上非法，需在语义层拦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42448" y="4663440"/>
            <a:ext cx="8229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50" b="0">
                <a:solidFill>
                  <a:srgbClr val="9AA8B8"/>
                </a:solidFill>
                <a:latin typeface="Consolas"/>
              </a:rPr>
              <a:t>96daa5f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5705856"/>
            <a:ext cx="10789920" cy="566928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96112" y="5852160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41F38"/>
                </a:solidFill>
                <a:latin typeface="微软雅黑"/>
              </a:rPr>
              <a:t>共同点：全都只在"真编译、真链接、真运行"时才暴露 —— 只看代码或只看能不能编译通过，一个都发现不了。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10  测试体系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11 套回归，一条 build.bat test 全绿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6 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.token.txt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文法自检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2E6CE6"/>
                </a:solidFill>
                <a:latin typeface="微软雅黑"/>
              </a:rPr>
              <a:t>21 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SELECT 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92224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96144" y="1810512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49 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.ast.txt / .err.txt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61488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语法单测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0EA5A5"/>
                </a:solidFill>
                <a:latin typeface="微软雅黑"/>
              </a:rPr>
              <a:t>17 输入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20 断言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8 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作用域链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61488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61488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926080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symtab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96144" y="2944368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58A3E"/>
                </a:solidFill>
                <a:latin typeface="微软雅黑"/>
              </a:rPr>
              <a:t>1 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73552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.sym.txt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17520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18 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诊断原文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5112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325112" y="3895344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07992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四元式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56832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2770A"/>
                </a:solidFill>
                <a:latin typeface="微软雅黑"/>
              </a:rPr>
              <a:t>17 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07992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.quad.txt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64424" y="3895344"/>
            <a:ext cx="345643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64424" y="3895344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47304" y="4059935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96144" y="4078224"/>
            <a:ext cx="9601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C0392B"/>
                </a:solidFill>
                <a:latin typeface="微软雅黑"/>
              </a:rPr>
              <a:t>29 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47304" y="4407408"/>
            <a:ext cx="31089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Consolas"/>
              </a:rPr>
              <a:t>编译→运行→stdout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" y="5138928"/>
            <a:ext cx="10789920" cy="457200"/>
          </a:xfrm>
          <a:prstGeom prst="rect">
            <a:avLst/>
          </a:prstGeom>
          <a:solidFill>
            <a:srgbClr val="F4FBF6"/>
          </a:solidFill>
          <a:ln w="12700">
            <a:solidFill>
              <a:srgbClr val="C3E6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6112" y="5248656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58A3E"/>
                </a:solidFill>
                <a:latin typeface="微软雅黑"/>
              </a:rPr>
              <a:t>+ 2 套 GUI 冒烟（book-smoke 55 条断言 / sample-smoke 22 条）  →  合计 11 套，ALL TEST SUITES PASSED，exit 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" y="5742432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41F38"/>
                </a:solidFill>
                <a:latin typeface="微软雅黑"/>
              </a:rPr>
              <a:t>为什么不是只看退出码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6053328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每套都锁死自己那一层的中间产物：词法比 .token.txt、语法比 .ast.txt 与报错原文、符号表比 .sym.txt、语义比诊断含行列号、中间代码比 .quad.txt 结构、目标代码走"汇编→链接→运行→比 stdout"。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11  正确性验证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两组独立基准反查：912 例，零不一致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两组基准，互相补位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0253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20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基准一：gcc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42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同一逻辑写 .mc 与 .c 两份，各走自己的编译器，逐行比对 stdout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66090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7860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基准二：Python 求值器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0263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随机表达式树深度 4，另写参考求值器，不共享编译器任何代码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31927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23697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为什么两组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6100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gcc 覆盖函数/递归/数组；Python 覆盖优先级与类型转换，单组都有盲区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397763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89534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F2937"/>
                </a:solidFill>
                <a:latin typeface="微软雅黑"/>
              </a:rPr>
              <a:t>除零用例跳过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11937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除数求值为 0 的不计入，避免把未定义行为算成缺陷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2E6CE6"/>
                </a:solidFill>
                <a:latin typeface="微软雅黑"/>
              </a:rPr>
              <a:t>480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gcc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0 不一致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37560" y="4681728"/>
            <a:ext cx="2514600" cy="1188720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4846320"/>
            <a:ext cx="2514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0EA5A5"/>
                </a:solidFill>
                <a:latin typeface="微软雅黑"/>
              </a:rPr>
              <a:t>432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37560" y="5358384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例 Python 基准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207 int + 225 float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1554480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边界场景也覆盖了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1993392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8" y="1920240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递归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0528" y="21945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ack(3,3) = 61，递归 + 多实参调用全链路正确</a:t>
            </a:r>
          </a:p>
        </p:txBody>
      </p:sp>
      <p:sp>
        <p:nvSpPr>
          <p:cNvPr id="29" name="Oval 28"/>
          <p:cNvSpPr/>
          <p:nvPr/>
        </p:nvSpPr>
        <p:spPr>
          <a:xfrm>
            <a:off x="6263640" y="2670048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0528" y="2596896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深递归与规模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10528" y="2871215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20 000 层递归、100 个函数、50 层括号、5 000 元素局部数组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346704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528" y="3273552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汇编确定性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354787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同一份源码两次编译，.asm 的 SHA256 完全一致</a:t>
            </a:r>
          </a:p>
        </p:txBody>
      </p:sp>
      <p:sp>
        <p:nvSpPr>
          <p:cNvPr id="35" name="Oval 34"/>
          <p:cNvSpPr/>
          <p:nvPr/>
        </p:nvSpPr>
        <p:spPr>
          <a:xfrm>
            <a:off x="6263640" y="4023360"/>
            <a:ext cx="109728" cy="109728"/>
          </a:xfrm>
          <a:prstGeom prst="ellipse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10528" y="3950208"/>
            <a:ext cx="4937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错误路径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0528" y="42245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5 种退出码：正常 0、无参 1、词法错 1、文件不存在 1、未知选项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12  图形界面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Electron 桌面端：点一下就编译，还能直接看 print 的结果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7 类产物页签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Token / 语法树 / 符号表 / 四元式 / 目标代码 / 诊断 / 运行输出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62763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2763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75564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暗亮双主题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04825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长时间看代码不刺眼，截图直接能进报告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内建语法手册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10 章 67 条，逐条实跑过；59 条带可运行示例，F1 唤起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263347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3347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6148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示例库 15 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305409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分 6 组：基础 / 类型 / 函数 / 数组与控制流 / 综合 / 错误演示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运行输出页签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编译成功后自动调 gcc 链接并跑起来，把 print 的 stdout 抓回界面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639312"/>
            <a:ext cx="5212080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3639312"/>
            <a:ext cx="45720" cy="896112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767328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中文路径兼容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4059936"/>
            <a:ext cx="4800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把源码与 exe 复制到临时目录再执行，绕开中文路径下文件 I/O 失效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773168"/>
            <a:ext cx="10789920" cy="566928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910328"/>
            <a:ext cx="103327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A5A1E"/>
                </a:solidFill>
                <a:latin typeface="微软雅黑"/>
              </a:rPr>
              <a:t>GUI 的编译链路与命令行完全一致：GUI 只是 spawn minic.exe 并读回产物，没有另写一套解析逻辑 —— 所以两边结果必然一致。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541264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冒烟测试不依赖窗口：book-smoke 用 vm 加载真实的 renderer.js（含最小 DOM stub），跑的是生产代码路径而不是另写一份逻辑；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渲染 67 个手册条目、10 个章按钮、搜索过滤、空态、开关、定位、徽标全部有断言。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13  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12 人 · 6 个模块 · 1 个集成交付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2E6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3456432" cy="4572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词法分析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2E6CE6"/>
                </a:solidFill>
                <a:latin typeface="微软雅黑"/>
              </a:rPr>
              <a:t>2人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刘鑫泽  张吕柘冰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5112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0E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5112" y="1627632"/>
            <a:ext cx="3456432" cy="45720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语法分析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59752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0EA5A5"/>
                </a:solidFill>
                <a:latin typeface="微软雅黑"/>
              </a:rPr>
              <a:t>2人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2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杨呈旭  郭晨赞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4424" y="162763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158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4424" y="1627632"/>
            <a:ext cx="3456432" cy="45720"/>
          </a:xfrm>
          <a:prstGeom prst="rect">
            <a:avLst/>
          </a:prstGeom>
          <a:solidFill>
            <a:srgbClr val="158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47304" y="177393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符号表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99064" y="179222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58A3E"/>
                </a:solidFill>
                <a:latin typeface="微软雅黑"/>
              </a:rPr>
              <a:t>2人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47304" y="213969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焦艺浩  李钊杰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277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2724912"/>
            <a:ext cx="3456432" cy="45720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语义分析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2770A"/>
                </a:solidFill>
                <a:latin typeface="微软雅黑"/>
              </a:rPr>
              <a:t>3人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陆禹辰  陕海波  于霄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25112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25112" y="2724912"/>
            <a:ext cx="3456432" cy="45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7992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中间代码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59752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8B5CF6"/>
                </a:solidFill>
                <a:latin typeface="微软雅黑"/>
              </a:rPr>
              <a:t>1人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07992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张灏宇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64424" y="2724912"/>
            <a:ext cx="3456432" cy="950976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64424" y="2724912"/>
            <a:ext cx="3456432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7304" y="2871216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目标代码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2889504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C0392B"/>
                </a:solidFill>
                <a:latin typeface="微软雅黑"/>
              </a:rPr>
              <a:t>1人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7304" y="32369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王逸凡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5800" y="3968496"/>
            <a:ext cx="3456432" cy="950976"/>
          </a:xfrm>
          <a:prstGeom prst="rect">
            <a:avLst/>
          </a:prstGeom>
          <a:solidFill>
            <a:srgbClr val="F6F9FF"/>
          </a:solidFill>
          <a:ln w="17780">
            <a:solidFill>
              <a:srgbClr val="141F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" y="3968496"/>
            <a:ext cx="3456432" cy="4572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114800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41F38"/>
                </a:solidFill>
                <a:latin typeface="微软雅黑"/>
              </a:rPr>
              <a:t>集成与交付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40" y="4133087"/>
            <a:ext cx="457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>
                <a:solidFill>
                  <a:srgbClr val="141F38"/>
                </a:solidFill>
                <a:latin typeface="微软雅黑"/>
              </a:rPr>
              <a:t>1人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4805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微软雅黑"/>
              </a:rPr>
              <a:t>鲍方乐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3968496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协作机制</a:t>
            </a:r>
          </a:p>
        </p:txBody>
      </p:sp>
      <p:sp>
        <p:nvSpPr>
          <p:cNvPr id="42" name="Oval 41"/>
          <p:cNvSpPr/>
          <p:nvPr/>
        </p:nvSpPr>
        <p:spPr>
          <a:xfrm>
            <a:off x="4526280" y="439826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800600" y="4315968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main 只接受 dev 快进合并，feature/* 一人一条，全部通过 PR 合入</a:t>
            </a:r>
          </a:p>
        </p:txBody>
      </p:sp>
      <p:sp>
        <p:nvSpPr>
          <p:cNvPr id="44" name="Oval 43"/>
          <p:cNvSpPr/>
          <p:nvPr/>
        </p:nvSpPr>
        <p:spPr>
          <a:xfrm>
            <a:off x="4526280" y="478231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00600" y="4700016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接口冻结在 docs/interface.md，任何签名改动都要登记并通知相关组</a:t>
            </a:r>
          </a:p>
        </p:txBody>
      </p:sp>
      <p:sp>
        <p:nvSpPr>
          <p:cNvPr id="46" name="Oval 45"/>
          <p:cNvSpPr/>
          <p:nvPr/>
        </p:nvSpPr>
        <p:spPr>
          <a:xfrm>
            <a:off x="4526280" y="5166359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00600" y="5084064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每个模块完成后由组长按验收指南逐条复核，再合入 dev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5800" y="5632704"/>
            <a:ext cx="10789920" cy="640080"/>
          </a:xfrm>
          <a:prstGeom prst="rect">
            <a:avLst/>
          </a:prstGeom>
          <a:solidFill>
            <a:srgbClr val="FEFBF3"/>
          </a:solidFill>
          <a:ln w="12700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6112" y="576072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7A5A1E"/>
                </a:solidFill>
                <a:latin typeface="微软雅黑"/>
              </a:rPr>
              <a:t>如实说明：语义与目标代码两个模块在收尾阶段由组长代为落地（原稿来自陕海波方案），Git 署名与纸面分工的差异已在 docs/plans/README.md 第三节逐条登记。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14  已知限制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哪些做不到，我们写清楚了 —— 而不是等验收时被发现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语言特性层面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+= %  ?:  等运算符（++ -- 已支持，前后缀均可）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关系运算符已按 C++ 分层，唯 &lt; 与 &lt;= 之间仍同级左结合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 for / do-while / break / continue / switch / goto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不支持多维数组、字符串字面量赋值、逗号表达式、链式赋值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不支持函数原型声明，函数须先定义后调用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58114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449884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不支持结构体 / 枚举 / typedef（char 已按整型参与算术，同 C）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727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41F38"/>
                </a:solidFill>
                <a:latin typeface="微软雅黑"/>
              </a:rPr>
              <a:t>语义与实现层面</a:t>
            </a:r>
          </a:p>
        </p:txBody>
      </p:sp>
      <p:sp>
        <p:nvSpPr>
          <p:cNvPr id="20" name="Oval 19"/>
          <p:cNvSpPr/>
          <p:nvPr/>
        </p:nvSpPr>
        <p:spPr>
          <a:xfrm>
            <a:off x="6263640" y="2020824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193852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顶层声明必须先于语句（LL(1) 的固有约束，块内不限）</a:t>
            </a:r>
          </a:p>
        </p:txBody>
      </p:sp>
      <p:sp>
        <p:nvSpPr>
          <p:cNvPr id="22" name="Oval 21"/>
          <p:cNvSpPr/>
          <p:nvPr/>
        </p:nvSpPr>
        <p:spPr>
          <a:xfrm>
            <a:off x="6263640" y="2532888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450592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语义检查实参个数与 return 类型；只剩数组下标越界不查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3044952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59" y="2962656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if 条件是 int 时不报错，只对 &amp;&amp; || 强制 bool</a:t>
            </a:r>
          </a:p>
        </p:txBody>
      </p:sp>
      <p:sp>
        <p:nvSpPr>
          <p:cNvPr id="26" name="Oval 25"/>
          <p:cNvSpPr/>
          <p:nvPr/>
        </p:nvSpPr>
        <p:spPr>
          <a:xfrm>
            <a:off x="6263640" y="3557016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59" y="34747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浮点常量 1. 合法、.5 非法</a:t>
            </a:r>
          </a:p>
        </p:txBody>
      </p:sp>
      <p:sp>
        <p:nvSpPr>
          <p:cNvPr id="28" name="Oval 27"/>
          <p:cNvSpPr/>
          <p:nvPr/>
        </p:nvSpPr>
        <p:spPr>
          <a:xfrm>
            <a:off x="6263640" y="4069080"/>
            <a:ext cx="100584" cy="100584"/>
          </a:xfrm>
          <a:prstGeom prst="ellipse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986784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F2937"/>
                </a:solidFill>
                <a:latin typeface="微软雅黑"/>
              </a:rPr>
              <a:t>不支持字符串常量（词法识别，语义与代码生成未接）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" y="4553712"/>
            <a:ext cx="10789920" cy="969264"/>
          </a:xfrm>
          <a:prstGeom prst="rect">
            <a:avLst/>
          </a:prstGeom>
          <a:solidFill>
            <a:srgbClr val="F6F9FF"/>
          </a:solidFill>
          <a:ln w="12700">
            <a:solidFill>
              <a:srgbClr val="C8DA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6344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41F38"/>
                </a:solidFill>
                <a:latin typeface="微软雅黑"/>
              </a:rPr>
              <a:t>为什么要主动列这份清单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4974336"/>
            <a:ext cx="103327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2A3E5C"/>
                </a:solidFill>
                <a:latin typeface="微软雅黑"/>
              </a:rPr>
              <a:t>这几条全部来自 docs/MiniC语法支持清单.md 的实测矩阵 —— 每一条都实际编译过，不是照抄文档写"可能不支持"。支持与不支持都写清楚，比含糊说"基本都支持"更经得起追问。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650992"/>
            <a:ext cx="1078992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微软雅黑"/>
              </a:rPr>
              <a:t>其中"顶层声明必须先于语句"来自产生式 程序 → 声明部分 语句部分：LL(1) 一旦看到 FOLLOW(声明部分) 就必须归约 ε，符号永久出栈、无法回头。要放宽只能改文法或换分析算法，属设计取舍而非缺陷。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789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2E6CE6"/>
                </a:solidFill>
                <a:latin typeface="微软雅黑"/>
              </a:rPr>
              <a:t>15  项目总结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41F38"/>
                </a:solidFill>
                <a:latin typeface="微软雅黑"/>
              </a:rPr>
              <a:t>三个值得讲的收获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298448"/>
            <a:ext cx="822960" cy="411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4864" cy="1298448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810512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2E6CE6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1810512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中间产物落盘，是最便宜的调试手段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219456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把 Token、AST、符号表、四元式、汇编全部写成文件，出问题时不用打断点猜。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答辩时也是最好的证据：说"类型转换插对了"，直接把 .quad.txt 和 .asm 并排一放。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108960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108960"/>
            <a:ext cx="54864" cy="1298448"/>
          </a:xfrm>
          <a:prstGeom prst="rect">
            <a:avLst/>
          </a:prstGeom>
          <a:solidFill>
            <a:srgbClr val="0E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9184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EA5A5"/>
                </a:solidFill>
                <a:latin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3291840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测试要锁住每一层的结构，而不是只看最终输出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367588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端到端只比 stdout 的话，求值顺序错了、临时变量编号乱了，输出照样是对的。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所以 11 套回归各自锁自己那一层的产物；语义甚至锁到"行列号 + 措辞"。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590288"/>
            <a:ext cx="10789920" cy="129844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590288"/>
            <a:ext cx="54864" cy="1298448"/>
          </a:xfrm>
          <a:prstGeom prst="rect">
            <a:avLst/>
          </a:prstGeom>
          <a:solidFill>
            <a:srgbClr val="C277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4773168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2770A"/>
                </a:solidFill>
                <a:latin typeface="微软雅黑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4773168"/>
            <a:ext cx="9509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41F38"/>
                </a:solidFill>
                <a:latin typeface="微软雅黑"/>
              </a:rPr>
              <a:t>假绿灯比红灯更危险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5157216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语义模块最初四轮提交都"能编译"，实际是文件放错目录、没进编译列表，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微软雅黑"/>
              </a:rPr>
              <a:t>等于什么都没测。最后靠 build.bat list 的文件数才查出来。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200" b="1">
                <a:solidFill>
                  <a:srgbClr val="FFFFFF"/>
                </a:solidFill>
                <a:latin typeface="微软雅黑"/>
              </a:rPr>
              <a:t>谢谢，请提问</a:t>
            </a:r>
          </a:p>
        </p:txBody>
      </p:sp>
      <p:sp>
        <p:nvSpPr>
          <p:cNvPr id="5" name="Rectangle 4"/>
          <p:cNvSpPr/>
          <p:nvPr/>
        </p:nvSpPr>
        <p:spPr>
          <a:xfrm>
            <a:off x="1024128" y="3127248"/>
            <a:ext cx="3108960" cy="22860"/>
          </a:xfrm>
          <a:prstGeom prst="rect">
            <a:avLst/>
          </a:prstGeom>
          <a:solidFill>
            <a:srgbClr val="2E6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4015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C2E8"/>
                </a:solidFill>
                <a:latin typeface="微软雅黑"/>
              </a:rPr>
              <a:t>第 5 组  ·  MiniC 编译器（挑战版）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现场可演示：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test            11 套回归全绿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build.bat run tests\test.mc  六份中间产物 + 汇编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8FA6C4"/>
                </a:solidFill>
                <a:latin typeface="Consolas"/>
              </a:rPr>
              <a:t>gui\启动GUI.bat            点编译，直接看 print 的输出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