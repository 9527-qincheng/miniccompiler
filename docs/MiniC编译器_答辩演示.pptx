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5840" y="5989320"/>
            <a:ext cx="2011680" cy="50292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54680" y="5989320"/>
            <a:ext cx="1371600" cy="5029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4813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A5A5"/>
                </a:solidFill>
                <a:latin typeface="微软雅黑"/>
              </a:rPr>
              <a:t>计算机软件实训 · 第 5 组 · 项目答辩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200" b="1">
                <a:solidFill>
                  <a:srgbClr val="FFFFFF"/>
                </a:solidFill>
                <a:latin typeface="微软雅黑"/>
              </a:rPr>
              <a:t>MiniC 编译器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12724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>
                <a:solidFill>
                  <a:srgbClr val="A9C2E8"/>
                </a:solidFill>
                <a:latin typeface="微软雅黑"/>
              </a:rPr>
              <a:t>挑战版 · LL(1) 预测分析 · 六阶段全链路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4128" y="3913632"/>
            <a:ext cx="5120640" cy="18288"/>
          </a:xfrm>
          <a:prstGeom prst="rect">
            <a:avLst/>
          </a:prstGeom>
          <a:solidFill>
            <a:srgbClr val="33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160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词法  →  语法  →  符号表  →  语义  →  中间代码  →  目标代码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21 个源文件 9,882 行 C++17  ·  141 个用例  ·  11 套回归全绿  ·  1000 例随机差分零不一致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614476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2026-10-27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6144768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组长：鲍方乐  2416050318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01  项目概览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一个能编译、能链接、能跑出结果的编译器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572768"/>
            <a:ext cx="25420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2E6CE6"/>
                </a:solidFill>
                <a:latin typeface="微软雅黑"/>
              </a:rPr>
              <a:t>9,882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行 C++17 源码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11 个 .cpp + 10 个头文件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9856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572768"/>
            <a:ext cx="25420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158A3E"/>
                </a:solidFill>
                <a:latin typeface="微软雅黑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套回归测试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全绿，退出码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3912" y="1572768"/>
            <a:ext cx="25420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0EA5A5"/>
                </a:solidFill>
                <a:latin typeface="微软雅黑"/>
              </a:rPr>
              <a:t>141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个 .mc 测试用例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6 类黄金基线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87968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87968" y="1572768"/>
            <a:ext cx="25420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87968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2770A"/>
                </a:solidFill>
                <a:latin typeface="微软雅黑"/>
              </a:rPr>
              <a:t>1000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例随机差分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与 gcc -O0 对照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273552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交付状态：项目书要求的 5 项交付物全部完成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749039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831335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①  编译器源码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3840479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六段流水线全部接通，gcc 零错误零警告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3803903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224527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306823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②  技术文档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4315967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语言规格 / 系统架构 / 数据结构 / 接口定义，四份全部入库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4279391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4700016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7823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③  测试用例集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6120" y="4791455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9 套编译阶段回归 + 2 套 GUI 冒烟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4754879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175504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52578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④  验收报告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46120" y="5266944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docs/验收报告.md，五模块逐条十字段记录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523036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5650992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573328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⑤  答辩材料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46120" y="5742431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本 PPT（18 页）+ docs/项目总结.md（1,071 行）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5705855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02  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六阶段流水线：每一步都留下可核验的产物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1700784" cy="6858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CLex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2E6CE6"/>
                </a:solidFill>
                <a:latin typeface="微软雅黑"/>
              </a:rPr>
              <a:t>.token.txt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8142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6430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64308" y="1627632"/>
            <a:ext cx="1700784" cy="685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430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430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CParser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430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.parse.txt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.ast.txt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7880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6168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61688" y="1627632"/>
            <a:ext cx="1700784" cy="6858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168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SymbolTable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158A3E"/>
                </a:solidFill>
                <a:latin typeface="微软雅黑"/>
              </a:rPr>
              <a:t>.sym.txt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07618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906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9068" y="1627632"/>
            <a:ext cx="1700784" cy="6858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906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SemanticAnalyzer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诊断输出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(stderr)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97356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56448" y="1627632"/>
            <a:ext cx="1700784" cy="685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IRGenerator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8B5CF6"/>
                </a:solidFill>
                <a:latin typeface="微软雅黑"/>
              </a:rPr>
              <a:t>.quad.txt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87094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0538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53828" y="1627632"/>
            <a:ext cx="1700784" cy="685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38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38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CCodeGen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38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0392B"/>
                </a:solidFill>
                <a:latin typeface="微软雅黑"/>
              </a:rPr>
              <a:t>.asm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127248"/>
            <a:ext cx="1092708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3246120"/>
            <a:ext cx="105156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F38"/>
                </a:solidFill>
                <a:latin typeface="微软雅黑"/>
              </a:rPr>
              <a:t>门禁：语法/语义错都继续往下收集、最后统一 stderr 报错并 exit 1；只有目标代码保持门禁 —— 不拿残缺 AST 生成脏汇编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391363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设计要点</a:t>
            </a:r>
          </a:p>
        </p:txBody>
      </p:sp>
      <p:sp>
        <p:nvSpPr>
          <p:cNvPr id="44" name="Oval 43"/>
          <p:cNvSpPr/>
          <p:nvPr/>
        </p:nvSpPr>
        <p:spPr>
          <a:xfrm>
            <a:off x="566928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7" y="4315968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按挑战版文法重写文法层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7" y="45399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105 条产生式 + 预测分析表驱动，不是手写递归下降</a:t>
            </a:r>
          </a:p>
        </p:txBody>
      </p:sp>
      <p:sp>
        <p:nvSpPr>
          <p:cNvPr id="47" name="Oval 46"/>
          <p:cNvSpPr/>
          <p:nvPr/>
        </p:nvSpPr>
        <p:spPr>
          <a:xfrm>
            <a:off x="566928" y="496519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7" y="48828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六个阶段靠数据结构串起来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7" y="51069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TokenList → AST → 符号表 → CodeList，接口冻结在 docs/interface.md</a:t>
            </a:r>
          </a:p>
        </p:txBody>
      </p:sp>
      <p:sp>
        <p:nvSpPr>
          <p:cNvPr id="50" name="Oval 49"/>
          <p:cNvSpPr/>
          <p:nvPr/>
        </p:nvSpPr>
        <p:spPr>
          <a:xfrm>
            <a:off x="566928" y="553212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1247" y="54498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每种中间结果都落盘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7" y="5673852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出错也能看到已经走到哪一步，答辩现场可直接对照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44768" y="3913632"/>
            <a:ext cx="5349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挑战版语言规格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44768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0EA5A5"/>
                </a:solidFill>
                <a:latin typeface="微软雅黑"/>
              </a:rPr>
              <a:t>LL(1) 表驱动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869680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18 类 AST 节点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44768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158A3E"/>
                </a:solidFill>
                <a:latin typeface="微软雅黑"/>
              </a:rPr>
              <a:t>作用域链符号表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869680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2770A"/>
                </a:solidFill>
                <a:latin typeface="微软雅黑"/>
              </a:rPr>
              <a:t>真短路求值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44768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0392B"/>
                </a:solidFill>
                <a:latin typeface="微软雅黑"/>
              </a:rPr>
              <a:t>int/float 双向转换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869680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8B5CF6"/>
                </a:solidFill>
                <a:latin typeface="微软雅黑"/>
              </a:rPr>
              <a:t>x86-64 汇编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44768" y="5815584"/>
            <a:ext cx="5349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在声明 / 赋值 / 表达式之上，扩展出字符、布尔、一维数组、函数、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控制流、短路求值、++ / --、常量折叠（字符串字面量语法层不接受）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03  模块一 · 词法分析 CLex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把字符流切成 Token，并把每个 Token 的行列号记下来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实现要点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终结符编码表按设计文档编号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625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001~005 为类型关键字，031~046 为运算符，051 标识符，099 EOF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双字符运算符最长匹配优先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== != &lt;= &gt;= &amp;&amp; || ++ -- 先试两字符，失败再退回单字符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2783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4553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错误定位到行列并继续扫描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3695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遇到非法字符报错后跳过，一次编译列出全部词法错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831335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74903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字符与字符串支持转义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9730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'\n' '\t' '\\' '\'' 与 \" 转义，未闭合能单独报错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实测：tests/test.mc 的 Token 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1956816"/>
            <a:ext cx="5212080" cy="239572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1956816"/>
            <a:ext cx="41148" cy="239572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1" y="2066544"/>
            <a:ext cx="4937760" cy="2212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int a; float b; a = b + 1;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1:1   INT      'int'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1:5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1:6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2:1   FLOAT    'float'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2:7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2:8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3:3   ASSIGN   '='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3:5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3:7   PLUS     '+'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3:9   NUM_INT  '1'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3:10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4:1   EOF      '&lt;eof&gt;'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590288"/>
            <a:ext cx="5138928" cy="157276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75488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2770A"/>
                </a:solidFill>
                <a:latin typeface="微软雅黑"/>
              </a:rPr>
              <a:t>错误用例 lex_test / bad_lex 实测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07492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bad_lex.mc 一次报出 8 条：非法字符 '@' '$'、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多点数字 3.14.15、字符串内换行、未闭合字符串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—— 报错后不中断，全部列出后才退出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4407408"/>
            <a:ext cx="5212080" cy="1755648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57200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58A3E"/>
                </a:solidFill>
                <a:latin typeface="微软雅黑"/>
              </a:rPr>
              <a:t>验收结论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4882896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6/6 词法回归用例通过；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41 个 Token 的 lex_test.mc 全部识别正确（含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STRING "hello world" 与转义字符）；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0 个 -Wchar-subscripts 警告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04  模块二 · 语法分析 CParser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105 条产生式的 LL(1) 预测分析表，全程无回溯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为什么是表驱动而不是递归下降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842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019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文法一改，行为自动跟着改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259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行为全部由 g_Grammar 数据驱动，代码里没有手写分支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可输出完整分析轨迹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--dump-parse 给出每一步的符号栈与剩余输入，便于讲解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644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821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冲突在构造期就暴露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061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SELECT 集相交直接报错，而不是运行时才发现解析不了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877056"/>
            <a:ext cx="502920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0050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程序 → 声明部分 语句部分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声明部分 → 声明 声明部分 | 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分析过程实测（tests/test.mc）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901952"/>
            <a:ext cx="5212080" cy="269748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901952"/>
            <a:ext cx="41148" cy="26974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1" y="2011680"/>
            <a:ext cx="4937760" cy="2514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产生式 105 条 / 分析步骤 68 / 结果 接受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步骤  符号栈          剩余输入      动作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1   $ 程序          int a ; ...   程序→声明部分 语句部分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2   $ 语句部分 声明部分  int ...   声明部分→声明 声明部分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3   $ ... 声明        int a ; ...   声明→类型 标识符 ;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48   $ 语句部分        ... ;        声明部分→ε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68   $               $            接受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7548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AST：19 项枚举 / 18 类在用，前序打印带行列号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5029200"/>
            <a:ext cx="5212080" cy="120700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5029200"/>
            <a:ext cx="41148" cy="120700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8231" y="5138928"/>
            <a:ext cx="4937760" cy="10241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Program @1:1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Decl(INT a) @1:1     Decl(FLOAT b) @2:1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Assign @3:1 -&gt; Ident(a) @3:1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  BinOp(PLUS) @3:7 -&gt; Ident(b) @3:5 / Num(1) @3:9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UnOp(INC) @4:1     UnOp(NOT) @5:1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05  模块三 · 符号表 SymbolTable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七张分表 + 作用域栈，让每次查名都只看得见该看见的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2029968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变量表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VarTbl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RecVar / RecArray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类型、行列、作用域层级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36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80360" y="1627632"/>
            <a:ext cx="2029968" cy="5486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常量表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ConstTbl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RecConst / BackfillConst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编译期常量回填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7492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74920" y="1627632"/>
            <a:ext cx="2029968" cy="54864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类型表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TypeTbl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5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RecBuiltinTypes / RecArrayType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5 个内建 + 数组类型 × 宽度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69479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9479" y="1627632"/>
            <a:ext cx="2029968" cy="54864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79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过程表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79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ProcTbl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1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ProcEntry + ParamEntry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形参与四元式挂载点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6404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64040" y="1627632"/>
            <a:ext cx="2029968" cy="548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404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标号表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LabelTbl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548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由 IR 的 LABEL 四元式登记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L1 L2 … 标号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3649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作用域链的维护</a:t>
            </a:r>
          </a:p>
        </p:txBody>
      </p:sp>
      <p:sp>
        <p:nvSpPr>
          <p:cNvPr id="32" name="Oval 31"/>
          <p:cNvSpPr/>
          <p:nvPr/>
        </p:nvSpPr>
        <p:spPr>
          <a:xfrm>
            <a:off x="685800" y="38130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37307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m_varScopeStack 是 vector&lt;unordered_map&gt;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547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进入左花括号压一层，退出右花括号弹一层</a:t>
            </a:r>
          </a:p>
        </p:txBody>
      </p:sp>
      <p:sp>
        <p:nvSpPr>
          <p:cNvPr id="35" name="Oval 34"/>
          <p:cNvSpPr/>
          <p:nvPr/>
        </p:nvSpPr>
        <p:spPr>
          <a:xfrm>
            <a:off x="685800" y="44714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38912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 只看当前作用域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61314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内层同名变量合法遮蔽外层，不再误报重复定义</a:t>
            </a:r>
          </a:p>
        </p:txBody>
      </p:sp>
      <p:sp>
        <p:nvSpPr>
          <p:cNvPr id="38" name="Oval 37"/>
          <p:cNvSpPr/>
          <p:nvPr/>
        </p:nvSpPr>
        <p:spPr>
          <a:xfrm>
            <a:off x="685800" y="5129783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504748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RecVarTbl 重名返回已存在下标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27151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修掉 bccd313 的缺陷：重名时新建表项导致下标错乱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33649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产物实样：.sym.txt 六节分表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3675887"/>
            <a:ext cx="5212080" cy="175564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63640" y="3675887"/>
            <a:ext cx="41148" cy="175564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28231" y="3785615"/>
            <a:ext cx="4937760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Variables ---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a : INT  @line 1  scope 1   b : FLOAT  @line 2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Constants ---   1 : INT = 1  @line 3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Types ---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int : INT  size 4    char : CHAR  size 1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INT[5] : INT  array 5  size 20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Procedures ---   // --- Params ---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add.x : INT  #1  @line 6  scope 2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--- Labels ---   L1 @line 16   L2 @line 16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5541264"/>
            <a:ext cx="5212080" cy="676656"/>
          </a:xfrm>
          <a:prstGeom prst="rect">
            <a:avLst/>
          </a:prstGeom>
          <a:solidFill>
            <a:srgbClr val="FDF8F0"/>
          </a:solidFill>
          <a:ln w="12700">
            <a:solidFill>
              <a:srgbClr val="E8D5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5596128"/>
            <a:ext cx="49377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6B4E1E"/>
                </a:solidFill>
                <a:latin typeface="微软雅黑"/>
              </a:rPr>
              <a:t>注：Types / Params / Labels 三节此前恒空 —— RecType、形参表、RecLabel</a:t>
            </a:r>
          </a:p>
          <a:p>
            <a:pPr algn="l">
              <a:lnSpc>
                <a:spcPct val="120000"/>
              </a:lnSpc>
            </a:pPr>
            <a:r>
              <a:rPr sz="950" b="0">
                <a:solidFill>
                  <a:srgbClr val="6B4E1E"/>
                </a:solidFill>
                <a:latin typeface="微软雅黑"/>
              </a:rPr>
              <a:t>都没有调用点。现已接上，标号由 IR 的 LABEL 四元式登记，</a:t>
            </a:r>
          </a:p>
          <a:p>
            <a:pPr algn="l">
              <a:lnSpc>
                <a:spcPct val="120000"/>
              </a:lnSpc>
            </a:pPr>
            <a:r>
              <a:rPr sz="950" b="0">
                <a:solidFill>
                  <a:srgbClr val="6B4E1E"/>
                </a:solidFill>
                <a:latin typeface="微软雅黑"/>
              </a:rPr>
              <a:t>故 dump 时机必须从语义之后挪到 IR 之后。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06  模块四 · 语义分析 SemanticAnalyzer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遍历 AST，一边登记符号一边校验类型，错误带行列号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做三件事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38528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19568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①  登记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249424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把声明写进符号表，EnterScope / ExitScope 与块结构严格成对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724912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7432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②  校验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3035808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未声明就使用、重复定义、形参与体内变量同名、逻辑运算操作数必须是 bool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511296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352958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③  推导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3822191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DeduceBinOp 统一出口推导表达式类型，必要时产出隐式转换告警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诊断实测：32 例语义回归逐字比对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83664"/>
            <a:ext cx="5212080" cy="2596896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883664"/>
            <a:ext cx="41148" cy="2596896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1" y="1993392"/>
            <a:ext cx="4937760" cy="24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err_duplicate.mc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4:1: duplicate variable 'a'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err_undeclared.mc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6:5: undefined identifier b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err_logical_type.mc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7:11: logical operators require bool operands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err_bool_arith.mc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7:11: arithmetic operands must be numeric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ok_float2int_warn.mc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warning: 7:5: implicit conversion from float to 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553712"/>
            <a:ext cx="10789920" cy="1609344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70001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这一套是本次专门补的：四段前端里语义原本是唯一没有独立回归的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502920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机制：用例首行写 /* expect: ok | err | warn:N */，runner 自动决定退出码与诊断条数，新增用例不必改脚本。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比对口径是完整的「文件:行:列: 消息」原文 —— 位置错一位、措辞改一个字都会 FAIL，能防止"报了个错就算过"。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反例自证：把 6:5 改成 5:5，立刻 [FAIL] diagnostics mismatch；把 expect 改成 ok，立刻 [FAIL] expected exit code 0, got 1。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07  模块五 · 中间代码 IRGenerator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两轮翻译：表达式递归求值出临时变量，语句摊平成跳转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两个必修缺陷（整改后已复验）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5179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5179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335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操作码照参考书表 5-2：大类名 + 宽度后缀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修复前：a = a + 1 直接算，类型不匹配也不管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修复后：int 参与 float 运算自动插 ITOF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(ADD_4F, b, _T1, _T2)     // 4 字节单精度加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    // 回写 int 时反向转换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_T3, -, 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566160"/>
            <a:ext cx="5120640" cy="170078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566160"/>
            <a:ext cx="41148" cy="170078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675887"/>
            <a:ext cx="4846320" cy="15179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修复前：c = a &amp;&amp; b 两边都求值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修复后：真短路，短路侧的操作数从不参与求值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(JNT, a, -, L1)                 // 假则跳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b, -, _T1)           // 只有 a 为真才执行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(JMP, -, -, L2)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L1, -, -)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0,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L2, -, -)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四元式回归：18 例锁结构不锁输出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865376"/>
            <a:ext cx="5212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stdout：求值顺序、临时变量编号、标号编号、短路展开形态全变了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也照样输出对 —— 所以专门比对 .quad.txt 本身。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61518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267919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arith_int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6883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左结合与 */ 优先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98094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304495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mixed_conv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305409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int↔float 双向转换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34670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341071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logic_short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41985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&amp;&amp; || 真短路展开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71246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377647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while_loop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37856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入口 LABEL + JNT + 回跳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07822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414223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call_nested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415137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PARA 不与外层交错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443983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450799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array_index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45171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读写共用 INDEX_4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4956048"/>
            <a:ext cx="5212080" cy="1207008"/>
          </a:xfrm>
          <a:prstGeom prst="rect">
            <a:avLst/>
          </a:prstGeom>
          <a:solidFill>
            <a:srgbClr val="FDF4F4"/>
          </a:solidFill>
          <a:ln w="12700">
            <a:solidFill>
              <a:srgbClr val="EEC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3952" y="5102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0392B"/>
                </a:solidFill>
                <a:latin typeface="微软雅黑"/>
              </a:rPr>
              <a:t>常量折叠 + 基线命名的坑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3952" y="5358384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常量折叠：两侧皆常量时编译期算完，a = 1 + 2 * 3 → (ASSIGN_4, 7, -, a)；</a:t>
            </a:r>
          </a:p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除零/溢出/&amp;&amp; || 故意不折。基线叫 *.expected.quad.txt 而非 *.quad.txt，</a:t>
            </a:r>
          </a:p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否则会被随手编一次 test.mc 覆盖掉。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08  模块六 · 目标代码 CCodeGen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把四元式逐条翻成 x86-64，栈式基线之上做了三层搬运消除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两端对齐：四元式 ↔ 汇编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37160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37160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1887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     cvtsi2ss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(ADD_4F, b, _T1, _T2) addss  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cvttss2si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(ASSIGN_4, _T3, -, a) movl     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0156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生成的汇编（tests/test.asm，45 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730752"/>
            <a:ext cx="5120640" cy="24323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730752"/>
            <a:ext cx="41148" cy="24323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840480"/>
            <a:ext cx="4846320" cy="22494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.globl main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.data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a: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b: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.text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main: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pushq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movq  %rsp,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subq  $32, %rsp        # 栈帧 32 字节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...                    # ITOF/addss/cvttss2si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.Lret0: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movq  %rbp, %rsp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popq 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ret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关键决策：入口用 main 而不是 _start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883664"/>
            <a:ext cx="5212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验收指南示例写的是 .globl _start，但目标平台定为 Windows MinGW：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_start 是 Linux 系统调用的入口，在 MinGW 下无法链接。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改成 global main + main: 后，gcc -x assembler 一条命令就能汇编并链接出 exe。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该决策记录在 docs/interface.md 第 7、14 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29184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正确性怎么证明的</a:t>
            </a:r>
          </a:p>
        </p:txBody>
      </p:sp>
      <p:sp>
        <p:nvSpPr>
          <p:cNvPr id="17" name="Oval 16"/>
          <p:cNvSpPr/>
          <p:nvPr/>
        </p:nvSpPr>
        <p:spPr>
          <a:xfrm>
            <a:off x="6263640" y="368503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59" y="360273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2937"/>
                </a:solidFill>
                <a:latin typeface="微软雅黑"/>
              </a:rPr>
              <a:t>1000 例随机差分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3826763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微软雅黑"/>
              </a:rPr>
              <a:t>tools/random_diff.py 与 gcc -O0 对照，0 不一致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41788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09651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2937"/>
                </a:solidFill>
                <a:latin typeface="微软雅黑"/>
              </a:rPr>
              <a:t>31 例端到端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3205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微软雅黑"/>
              </a:rPr>
              <a:t>汇编 → 链接 → 运行 → 比对 stdout</a:t>
            </a:r>
          </a:p>
        </p:txBody>
      </p:sp>
      <p:sp>
        <p:nvSpPr>
          <p:cNvPr id="23" name="Oval 22"/>
          <p:cNvSpPr/>
          <p:nvPr/>
        </p:nvSpPr>
        <p:spPr>
          <a:xfrm>
            <a:off x="6263640" y="4672583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59" y="459028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2937"/>
                </a:solidFill>
                <a:latin typeface="微软雅黑"/>
              </a:rPr>
              <a:t>指令数 −21.2%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481431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微软雅黑"/>
              </a:rPr>
              <a:t>三层搬运消除 + 比较塌缩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516636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59" y="50840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2937"/>
                </a:solidFill>
                <a:latin typeface="微软雅黑"/>
              </a:rPr>
              <a:t>16 字节栈对齐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59" y="53080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微软雅黑"/>
              </a:rPr>
              <a:t>否则 printf 里会崩，属于最难查的一类 bug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5669280"/>
            <a:ext cx="5212080" cy="493776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57972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ack(3,3) = 61 — 递归 + 多实参调用跑通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09  收尾修复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8 个后端缺陷：都是只有真跑起来才会暴露的问题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嵌套调用实参错序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f(g(1), g(2)) 里外层 PARA 与内层 CALL 交错，实参被对调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0176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空函数不产函数体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void f() {} 只生成标号就结束，调用时跳到不该去的地方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4244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出错仍产 .asm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前面阶段报错了还继续生成汇编，留下半截文件误导人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176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764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重复 main 标号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用户自己也写 int main() 时与框架的 main: 撞名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4244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20a61f4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显式 return 被清零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 42; 之后又补了 return 0，结果恒为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0176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764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裸 return 带残值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764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return; 复用了上一个表达式的寄存器残留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4244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696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无 return 返回垃圾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int 函数不写 return 时返回栈上垃圾值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0176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嵌套函数未拦截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2764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函数里定义函数，文法允许但语义上非法，需在语义层拦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4244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96daa5f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5705856"/>
            <a:ext cx="1078992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6112" y="5852160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F38"/>
                </a:solidFill>
                <a:latin typeface="微软雅黑"/>
              </a:rPr>
              <a:t>共同点：全都只在"真编译、真链接、真运行"时才暴露 —— 只看代码或只看能不能编译通过，一个都发现不了。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10  测试体系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11 套回归，一条 build.bat test 全绿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6 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.token.txt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文法自检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21 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SELECT 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96144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50 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.ast.txt / .err.txt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61488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语法单测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17 输入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20 断言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8 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作用域链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symtab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96144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2 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.sym.txt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32 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诊断原文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5112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25112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07992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四元式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56832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18 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07992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.quad.txt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64424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964424" y="3895344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47304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96144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0392B"/>
                </a:solidFill>
                <a:latin typeface="微软雅黑"/>
              </a:rPr>
              <a:t>31 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47304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编译→运行→stdout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5800" y="5138928"/>
            <a:ext cx="10789920" cy="457200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6112" y="524865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+ 2 套 GUI 冒烟（book-smoke 55 条断言 / sample-smoke 22 条）  →  合计 11 套，ALL TEST SUITES PASSED，exit 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574243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为什么不是只看退出码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05332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每套都锁死自己那一层的中间产物：词法比 .token.txt、语法比 .ast.txt 与报错原文、符号表比 .sym.txt、语义比诊断含行列号、中间代码比 .quad.txt 结构、目标代码走"汇编→链接→运行→比 stdout"。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11  正确性验证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端到端差分：1000 例随机程序，零不一致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基准是另一个编译器，不是自己的期望值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0253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基准：gcc -O0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442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同一棵随机程序树渲染成 .mc 与等价 .c，各走自己的编译器，逐行比对 stdout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6090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786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覆盖面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0263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赋值 / 算术 / 比较 / if-else / while / 函数调用 / 数组读写 / 全局变量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31927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23697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可复现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610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python tools/random_diff.py -n 1000 -s 20261028，退出码 0 即全一致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97763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89534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假不一致怎么排除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11937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字面量带 f 后缀保持单精度；所有变量显式初始化，否则比的是栈残留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2E6CE6"/>
                </a:solidFill>
                <a:latin typeface="微软雅黑"/>
              </a:rPr>
              <a:t>1000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例随机程序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 不一致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0EA5A5"/>
                </a:solidFill>
                <a:latin typeface="微软雅黑"/>
              </a:rPr>
              <a:t>93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例 -O 前后对照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stdout + 退出码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边界场景也覆盖了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1993392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1920240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递归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0528" y="21945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ack(3,3) = 61，递归 + 多实参调用全链路正确</a:t>
            </a:r>
          </a:p>
        </p:txBody>
      </p:sp>
      <p:sp>
        <p:nvSpPr>
          <p:cNvPr id="29" name="Oval 28"/>
          <p:cNvSpPr/>
          <p:nvPr/>
        </p:nvSpPr>
        <p:spPr>
          <a:xfrm>
            <a:off x="6263640" y="2670048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0528" y="2596896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深递归与规模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0528" y="2871215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20 000 层递归、100 个函数、50 层括号、5 000 元素局部数组</a:t>
            </a:r>
          </a:p>
        </p:txBody>
      </p:sp>
      <p:sp>
        <p:nvSpPr>
          <p:cNvPr id="32" name="Oval 31"/>
          <p:cNvSpPr/>
          <p:nvPr/>
        </p:nvSpPr>
        <p:spPr>
          <a:xfrm>
            <a:off x="6263640" y="3346704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528" y="327355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汇编确定性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354787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同一份源码两次编译，.asm 的 SHA256 完全一致</a:t>
            </a:r>
          </a:p>
        </p:txBody>
      </p:sp>
      <p:sp>
        <p:nvSpPr>
          <p:cNvPr id="35" name="Oval 34"/>
          <p:cNvSpPr/>
          <p:nvPr/>
        </p:nvSpPr>
        <p:spPr>
          <a:xfrm>
            <a:off x="6263640" y="4023360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10528" y="3950208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错误路径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10528" y="42245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5 种退出码：正常 0、无参 1、词法错 1、文件不存在 1、未知选项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12  图形界面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Electron 桌面端：点一下就编译，还能直接看 print 的结果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7 类产物页签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Token / 语法树 / 符号表 / 四元式 / 目标代码 / 诊断 / 运行输出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暗亮双主题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长时间看代码不刺眼，截图直接能进报告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内建语法手册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10 章 68 条，逐条实跑过；60 条带可运行示例，F1 唤起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示例库 15 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764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分 6 组：基础 / 类型 / 函数 / 数组与控制流 / 综合 / 错误演示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运行输出页签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编译成功后自动调 gcc 链接并跑起来，把 print 的 stdout 抓回界面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764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中文路径兼容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把源码与 exe 复制到临时目录再执行，绕开中文路径下文件 I/O 失效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773168"/>
            <a:ext cx="10789920" cy="56692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910328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A5A1E"/>
                </a:solidFill>
                <a:latin typeface="微软雅黑"/>
              </a:rPr>
              <a:t>GUI 的编译链路与命令行完全一致：GUI 只是 spawn minic.exe 并读回产物，没有另写一套解析逻辑 —— 所以两边结果必然一致。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54126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冒烟测试不依赖窗口：book-smoke 用 vm 加载真实的 renderer.js（含最小 DOM stub），跑的是生产代码路径而不是另写一份逻辑；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渲染 68 个手册条目、10 个章按钮、搜索过滤、空态、开关、定位、徽标全部有断言。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13  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12 人 · 6 个模块 · 1 个集成交付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2E6CE6"/>
                </a:solidFill>
                <a:latin typeface="微软雅黑"/>
              </a:rPr>
              <a:t>2人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刘鑫泽  张吕柘冰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9752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0EA5A5"/>
                </a:solidFill>
                <a:latin typeface="微软雅黑"/>
              </a:rPr>
              <a:t>2人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杨呈旭  郭晨赞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99064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58A3E"/>
                </a:solidFill>
                <a:latin typeface="微软雅黑"/>
              </a:rPr>
              <a:t>2人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焦艺浩  李钊杰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24912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2770A"/>
                </a:solidFill>
                <a:latin typeface="微软雅黑"/>
              </a:rPr>
              <a:t>3人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陆禹辰  陕海波  于霄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24912"/>
            <a:ext cx="3456432" cy="45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59752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8B5CF6"/>
                </a:solidFill>
                <a:latin typeface="微软雅黑"/>
              </a:rPr>
              <a:t>1人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张灏宇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24912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99064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0392B"/>
                </a:solidFill>
                <a:latin typeface="微软雅黑"/>
              </a:rPr>
              <a:t>1人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王逸凡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968496"/>
            <a:ext cx="3456432" cy="950976"/>
          </a:xfrm>
          <a:prstGeom prst="rect">
            <a:avLst/>
          </a:prstGeom>
          <a:solidFill>
            <a:srgbClr val="F6F9FF"/>
          </a:solidFill>
          <a:ln w="17780">
            <a:solidFill>
              <a:srgbClr val="141F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968496"/>
            <a:ext cx="3456432" cy="4572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11480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集成与交付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0440" y="4133087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41F38"/>
                </a:solidFill>
                <a:latin typeface="微软雅黑"/>
              </a:rPr>
              <a:t>1人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805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鲍方乐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6280" y="3968496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协作机制</a:t>
            </a:r>
          </a:p>
        </p:txBody>
      </p:sp>
      <p:sp>
        <p:nvSpPr>
          <p:cNvPr id="42" name="Oval 41"/>
          <p:cNvSpPr/>
          <p:nvPr/>
        </p:nvSpPr>
        <p:spPr>
          <a:xfrm>
            <a:off x="4526280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00600" y="4315968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main 只接受 dev 快进合并，feature/* 一人一条，全部通过 PR 合入</a:t>
            </a:r>
          </a:p>
        </p:txBody>
      </p:sp>
      <p:sp>
        <p:nvSpPr>
          <p:cNvPr id="44" name="Oval 43"/>
          <p:cNvSpPr/>
          <p:nvPr/>
        </p:nvSpPr>
        <p:spPr>
          <a:xfrm>
            <a:off x="4526280" y="478231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00600" y="4700016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接口冻结在 docs/interface.md，任何签名改动都要登记并通知相关组</a:t>
            </a:r>
          </a:p>
        </p:txBody>
      </p:sp>
      <p:sp>
        <p:nvSpPr>
          <p:cNvPr id="46" name="Oval 45"/>
          <p:cNvSpPr/>
          <p:nvPr/>
        </p:nvSpPr>
        <p:spPr>
          <a:xfrm>
            <a:off x="4526280" y="516635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00600" y="5084064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每个模块完成后由组长按验收指南逐条复核，再合入 dev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5800" y="5632704"/>
            <a:ext cx="10789920" cy="640080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6112" y="576072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A5A1E"/>
                </a:solidFill>
                <a:latin typeface="微软雅黑"/>
              </a:rPr>
              <a:t>如实说明：语义与目标代码两个模块在收尾阶段由组长代为落地（原稿来自陕海波方案），Git 署名与纸面分工的差异已在 docs/plans/README.md 第三节逐条登记。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14  已知限制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哪些做不到，我们写清楚了 —— 而不是等验收时被发现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语言特性层面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4767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6537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 += %= 等复合赋值、取模 %、位运算、三目 ?: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242316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3408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关系运算符按 C++ 分层（== != 低于 &lt; &lt;= &gt; &gt;=）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8986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8163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 for / do-while / break / continue / switch / goto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37413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2918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不支持多维数组、字符串字面量赋值、逗号表达式、链式赋值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38496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7673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不支持函数原型声明，函数须先定义后调用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32511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24281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不支持结构体 / 枚举 / typedef（char 已按整型参与算术，同 C）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语义与实现层面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194767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186537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顶层声明必须先于语句（LL(1) 的固有约束，块内不限）</a:t>
            </a:r>
          </a:p>
        </p:txBody>
      </p:sp>
      <p:sp>
        <p:nvSpPr>
          <p:cNvPr id="22" name="Oval 21"/>
          <p:cNvSpPr/>
          <p:nvPr/>
        </p:nvSpPr>
        <p:spPr>
          <a:xfrm>
            <a:off x="6263640" y="242316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59" y="23408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语义已查实参类型 / return / 常量下标越界；变量下标越界不查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986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59" y="281635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if 条件是 int 时不报错，只对 &amp;&amp; || 强制 bool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337413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59" y="32918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浮点常量 1. 合法、.5 非法</a:t>
            </a:r>
          </a:p>
        </p:txBody>
      </p:sp>
      <p:sp>
        <p:nvSpPr>
          <p:cNvPr id="28" name="Oval 27"/>
          <p:cNvSpPr/>
          <p:nvPr/>
        </p:nvSpPr>
        <p:spPr>
          <a:xfrm>
            <a:off x="6263640" y="38496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59" y="37673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不支持字符串常量（词法识别，语义与代码生成未接）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432511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59" y="424281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代码生成只做累加器直通与立即数直用，不做寄存器分配与 CSE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626864"/>
            <a:ext cx="10789920" cy="914400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4718304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为什么要主动列这份清单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" y="50292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这几条全部来自 docs/MiniC语法支持清单.md 的实测矩阵 —— 每一条都实际编译过，不是照抄文档写"可能不支持"。支持与不支持都写清楚，比含糊说"基本都支持"更经得起追问。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5650992"/>
            <a:ext cx="107899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其中"顶层声明必须先于语句"来自产生式 程序 → 声明部分 语句部分：LL(1) 一旦看到 FOLLOW(声明部分) 就必须归约 ε，符号永久出栈、无法回头。要放宽只能改文法或换分析算法，属设计取舍而非缺陷。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15  工程化加固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以代码行为为准的收口 —— 不新增语言特性，只修真实缺陷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2542032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481328"/>
            <a:ext cx="25420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8249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0392B"/>
                </a:solidFill>
                <a:latin typeface="微软雅黑"/>
              </a:rPr>
              <a:t>189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3113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1000 个空函数编译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修复前 68 150 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9856" y="1481328"/>
            <a:ext cx="2542032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81328"/>
            <a:ext cx="25420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68249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2770A"/>
                </a:solidFill>
                <a:latin typeface="微软雅黑"/>
              </a:rPr>
              <a:t>7 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223113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新增静态检查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3 个错误 + 4 个警告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1481328"/>
            <a:ext cx="2542032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3912" y="1481328"/>
            <a:ext cx="25420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68249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158A3E"/>
                </a:solidFill>
                <a:latin typeface="微软雅黑"/>
              </a:rPr>
              <a:t>3 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223113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符号表死表接上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类型 / 形参 / 标号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87968" y="1481328"/>
            <a:ext cx="2542032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87968" y="1481328"/>
            <a:ext cx="25420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87968" y="168249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0EA5A5"/>
                </a:solidFill>
                <a:latin typeface="微软雅黑"/>
              </a:rPr>
              <a:t>93 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223113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-O 前后零差异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stdout + 退出码</a:t>
            </a:r>
          </a:p>
        </p:txBody>
      </p:sp>
      <p:sp>
        <p:nvSpPr>
          <p:cNvPr id="22" name="Oval 21"/>
          <p:cNvSpPr/>
          <p:nvPr/>
        </p:nvSpPr>
        <p:spPr>
          <a:xfrm>
            <a:off x="68580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296265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①  分析轨迹按需记录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186684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RecordStep 每步都拼「整栈 + 剩余全部 Token」，退化成 O(n²)；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改为默认关闭，只有 --dump-parse 打开。.parse.txt 8 212 字符逐字不变。</a:t>
            </a:r>
          </a:p>
        </p:txBody>
      </p:sp>
      <p:sp>
        <p:nvSpPr>
          <p:cNvPr id="25" name="Oval 24"/>
          <p:cNvSpPr/>
          <p:nvPr/>
        </p:nvSpPr>
        <p:spPr>
          <a:xfrm>
            <a:off x="685800" y="39410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85876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②  七项静态检查 + 诊断上下文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08279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数组名 / 常量下标 / return / 入口 / 实参类型 / 字面量 / char；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诊断后跟源码行与 ^ 定位符。后四项只能是警告，否则既有用例全崩。</a:t>
            </a:r>
          </a:p>
        </p:txBody>
      </p:sp>
      <p:sp>
        <p:nvSpPr>
          <p:cNvPr id="28" name="Oval 27"/>
          <p:cNvSpPr/>
          <p:nvPr/>
        </p:nvSpPr>
        <p:spPr>
          <a:xfrm>
            <a:off x="685800" y="483717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754880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③  符号表三张空表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97890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INT[5] 数组类型行、-- Params 节、RecLabel 接上；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标号由 IR 的 LABEL 四元式登记，dump 必须挪到 IR 之后。</a:t>
            </a:r>
          </a:p>
        </p:txBody>
      </p:sp>
      <p:sp>
        <p:nvSpPr>
          <p:cNvPr id="31" name="Oval 30"/>
          <p:cNvSpPr/>
          <p:nvPr/>
        </p:nvSpPr>
        <p:spPr>
          <a:xfrm>
            <a:off x="626364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59" y="296265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④  命令行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59" y="3186684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-h / --help、-V / --version；错误上限 100 条，超出只计数不打印，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末尾汇总一行说明省略了多少条。</a:t>
            </a:r>
          </a:p>
        </p:txBody>
      </p:sp>
      <p:sp>
        <p:nvSpPr>
          <p:cNvPr id="34" name="Oval 33"/>
          <p:cNvSpPr/>
          <p:nvPr/>
        </p:nvSpPr>
        <p:spPr>
          <a:xfrm>
            <a:off x="6263640" y="39410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59" y="385876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⑤  -O 优化与寄存器分配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59" y="408279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按标号切块做常量传播 / CSE / 死存储 + 四轮窥孔，迭代到不动点；热点局部整型标量固定 %ebx/%esi。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全仓 removed 54 / rewrote 150；汇编指令 3 010 → 2 557（−21.2%）；整数比较塌缩 5→2 条、i = i + 1 由 3 条变 1 条。</a:t>
            </a:r>
          </a:p>
        </p:txBody>
      </p:sp>
      <p:sp>
        <p:nvSpPr>
          <p:cNvPr id="37" name="Oval 36"/>
          <p:cNvSpPr/>
          <p:nvPr/>
        </p:nvSpPr>
        <p:spPr>
          <a:xfrm>
            <a:off x="6263640" y="483717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59" y="4754880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⑥  持续集成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59" y="497890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windows-latest + MinGW-w64：工具链 → build.bat test → 五类产物 →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-O 行为一致性冒烟。已在 dev / main 上启用，首次运行 85 秒全绿。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" y="5687568"/>
            <a:ext cx="10789920" cy="603504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" y="5833872"/>
            <a:ext cx="10332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F38"/>
                </a:solidFill>
                <a:latin typeface="微软雅黑"/>
              </a:rPr>
              <a:t>唯一不变量：默认编译路径的产物逐字不变 —— 18 个 quad 基线、31 个 codegen 基线、32 个语义基线一字节未改。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16  项目总结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三个值得讲的收获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54864" cy="12984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81051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E6CE6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1810512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中间产物落盘，是最便宜的调试手段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7632" y="219456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 Token、AST、符号表、四元式、汇编全部写成文件，出问题时不用打断点猜。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答辩时也是最好的证据：说"类型转换插对了"，直接把 .quad.txt 和 .asm 并排一放。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108960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108960"/>
            <a:ext cx="54864" cy="129844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29184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EA5A5"/>
                </a:solidFill>
                <a:latin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3291840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测试要锁住每一层的结构，而不是只看最终输出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" y="3675888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 的话，求值顺序错了、临时变量编号乱了，输出照样是对的。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所以 11 套回归各自锁自己那一层的产物；语义甚至锁到"行列号 + 措辞"。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590288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590288"/>
            <a:ext cx="54864" cy="1298448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7731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2770A"/>
                </a:solidFill>
                <a:latin typeface="微软雅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4773168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假绿灯比红灯更危险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5157216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语义模块最初四轮提交都"能编译"，实际是文件放错目录、没进编译列表，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等于什么都没测。最后靠 build.bat list 的文件数才查出来。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>
                <a:solidFill>
                  <a:srgbClr val="FFFFFF"/>
                </a:solidFill>
                <a:latin typeface="微软雅黑"/>
              </a:rPr>
              <a:t>谢谢，请提问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3127248"/>
            <a:ext cx="3108960" cy="2286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015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A9C2E8"/>
                </a:solidFill>
                <a:latin typeface="微软雅黑"/>
              </a:rPr>
              <a:t>第 5 组  ·  MiniC 编译器（挑战版）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8463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现场可演示：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test            11 套回归全绿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run tests\test.mc  六份中间产物 + 汇编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gui\启动GUI.bat            点编译，直接看 print 的输出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