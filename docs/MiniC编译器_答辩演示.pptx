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F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05840" y="5989320"/>
            <a:ext cx="2011680" cy="50292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154680" y="5989320"/>
            <a:ext cx="1371600" cy="5029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4813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EA5A5"/>
                </a:solidFill>
                <a:latin typeface="微软雅黑"/>
              </a:rPr>
              <a:t>计算机软件实训 · 第 5 组 · 项目答辩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965960"/>
            <a:ext cx="100584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200" b="1">
                <a:solidFill>
                  <a:srgbClr val="FFFFFF"/>
                </a:solidFill>
                <a:latin typeface="微软雅黑"/>
              </a:rPr>
              <a:t>MiniC 编译器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127248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0">
                <a:solidFill>
                  <a:srgbClr val="A9C2E8"/>
                </a:solidFill>
                <a:latin typeface="微软雅黑"/>
              </a:rPr>
              <a:t>挑战版 · LL(1) 预测分析 · 六阶段全链路</a:t>
            </a:r>
          </a:p>
        </p:txBody>
      </p:sp>
      <p:sp>
        <p:nvSpPr>
          <p:cNvPr id="9" name="Rectangle 8"/>
          <p:cNvSpPr/>
          <p:nvPr/>
        </p:nvSpPr>
        <p:spPr>
          <a:xfrm>
            <a:off x="1024128" y="3913632"/>
            <a:ext cx="5120640" cy="18288"/>
          </a:xfrm>
          <a:prstGeom prst="rect">
            <a:avLst/>
          </a:prstGeom>
          <a:solidFill>
            <a:srgbClr val="3344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16052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C7D6E8"/>
                </a:solidFill>
                <a:latin typeface="微软雅黑"/>
              </a:rPr>
              <a:t>词法  →  语法  →  符号表  →  语义  →  中间代码  →  目标代码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C7D6E8"/>
                </a:solidFill>
                <a:latin typeface="微软雅黑"/>
              </a:rPr>
              <a:t>21 个源文件 8,919 行 C++17  ·  135 个用例  ·  11 套回归全绿  ·  912 例随机差分零不一致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614476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E93B0"/>
                </a:solidFill>
                <a:latin typeface="微软雅黑"/>
              </a:rPr>
              <a:t>2026-10-27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6144768"/>
            <a:ext cx="3566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0">
                <a:solidFill>
                  <a:srgbClr val="7E93B0"/>
                </a:solidFill>
                <a:latin typeface="微软雅黑"/>
              </a:rPr>
              <a:t>组长：鲍方乐  2416050318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01  项目概览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一个能编译、能链接、能跑出结果的编译器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254203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572768"/>
            <a:ext cx="2542032" cy="4572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773936"/>
            <a:ext cx="25420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2E6CE6"/>
                </a:solidFill>
                <a:latin typeface="微软雅黑"/>
              </a:rPr>
              <a:t>8,919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322576"/>
            <a:ext cx="25420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行 C++17 源码</a:t>
            </a:r>
          </a:p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11 个 .cpp + 10 个头文件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19856" y="1572768"/>
            <a:ext cx="254203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19856" y="1572768"/>
            <a:ext cx="2542032" cy="45720"/>
          </a:xfrm>
          <a:prstGeom prst="rect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19856" y="1773936"/>
            <a:ext cx="25420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158A3E"/>
                </a:solidFill>
                <a:latin typeface="微软雅黑"/>
              </a:rPr>
              <a:t>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19856" y="2322576"/>
            <a:ext cx="25420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套回归测试</a:t>
            </a:r>
          </a:p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全绿，退出码 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53912" y="1572768"/>
            <a:ext cx="254203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53912" y="1572768"/>
            <a:ext cx="2542032" cy="4572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53912" y="1773936"/>
            <a:ext cx="25420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0EA5A5"/>
                </a:solidFill>
                <a:latin typeface="微软雅黑"/>
              </a:rPr>
              <a:t>135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53912" y="2322576"/>
            <a:ext cx="25420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个 .mc 测试用例</a:t>
            </a:r>
          </a:p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6 类黄金基线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87968" y="1572768"/>
            <a:ext cx="254203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887968" y="1572768"/>
            <a:ext cx="2542032" cy="45720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87968" y="1773936"/>
            <a:ext cx="25420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C2770A"/>
                </a:solidFill>
                <a:latin typeface="微软雅黑"/>
              </a:rPr>
              <a:t>912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87968" y="2322576"/>
            <a:ext cx="25420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例差分验证</a:t>
            </a:r>
          </a:p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两组独立基准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273552"/>
            <a:ext cx="10744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41F38"/>
                </a:solidFill>
                <a:latin typeface="微软雅黑"/>
              </a:rPr>
              <a:t>交付状态：项目书要求的 5 项交付物全部完成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3749039"/>
            <a:ext cx="10744200" cy="40233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3831335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①  编译器源码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46120" y="3840479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微软雅黑"/>
              </a:rPr>
              <a:t>六段流水线全部接通，gcc 零错误零警告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3803903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158A3E"/>
                </a:solidFill>
                <a:latin typeface="微软雅黑"/>
              </a:rPr>
              <a:t>✅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" y="4224527"/>
            <a:ext cx="1074420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4306823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②  技术文档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46120" y="4315967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微软雅黑"/>
              </a:rPr>
              <a:t>语言规格 / 系统架构 / 数据结构 / 接口定义，四份全部入库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4279391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158A3E"/>
                </a:solidFill>
                <a:latin typeface="微软雅黑"/>
              </a:rPr>
              <a:t>✅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85800" y="4700016"/>
            <a:ext cx="10744200" cy="40233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478231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③  测试用例集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46120" y="4791455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微软雅黑"/>
              </a:rPr>
              <a:t>9 套编译阶段回归 + 2 套 GUI 冒烟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0" y="4754879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158A3E"/>
                </a:solidFill>
                <a:latin typeface="微软雅黑"/>
              </a:rPr>
              <a:t>✅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85800" y="5175504"/>
            <a:ext cx="1074420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" y="525780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④  验收报告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46120" y="5266944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微软雅黑"/>
              </a:rPr>
              <a:t>docs/验收报告.md，五模块逐条十字段记录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0" y="523036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158A3E"/>
                </a:solidFill>
                <a:latin typeface="微软雅黑"/>
              </a:rPr>
              <a:t>✅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5800" y="5650992"/>
            <a:ext cx="10744200" cy="40233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8680" y="5733288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⑤  答辩材料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46120" y="5742431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微软雅黑"/>
              </a:rPr>
              <a:t>本 PPT（18 页）+ docs/项目总结.md（901 行）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0" y="5705855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158A3E"/>
                </a:solidFill>
                <a:latin typeface="微软雅黑"/>
              </a:rPr>
              <a:t>✅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02  系统架构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六阶段流水线：每一步都留下可核验的产物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627632"/>
            <a:ext cx="1700784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2E6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1700784" cy="6858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810512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词法分析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103120"/>
            <a:ext cx="17007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CLex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39572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2E6CE6"/>
                </a:solidFill>
                <a:latin typeface="微软雅黑"/>
              </a:rPr>
              <a:t>.token.txt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281428" y="2130552"/>
            <a:ext cx="169164" cy="146304"/>
          </a:xfrm>
          <a:prstGeom prst="rightArrow">
            <a:avLst/>
          </a:prstGeom>
          <a:solidFill>
            <a:srgbClr val="C2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464308" y="1627632"/>
            <a:ext cx="1700784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0E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464308" y="1627632"/>
            <a:ext cx="1700784" cy="6858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64308" y="1810512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语法分析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4308" y="2103120"/>
            <a:ext cx="17007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CParser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4308" y="239572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0EA5A5"/>
                </a:solidFill>
                <a:latin typeface="微软雅黑"/>
              </a:rPr>
              <a:t>.parse.txt</a:t>
            </a:r>
          </a:p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0EA5A5"/>
                </a:solidFill>
                <a:latin typeface="微软雅黑"/>
              </a:rPr>
              <a:t>.ast.txt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178808" y="2130552"/>
            <a:ext cx="169164" cy="146304"/>
          </a:xfrm>
          <a:prstGeom prst="rightArrow">
            <a:avLst/>
          </a:prstGeom>
          <a:solidFill>
            <a:srgbClr val="C2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61688" y="1627632"/>
            <a:ext cx="1700784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15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61688" y="1627632"/>
            <a:ext cx="1700784" cy="68580"/>
          </a:xfrm>
          <a:prstGeom prst="rect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61688" y="1810512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符号表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61688" y="2103120"/>
            <a:ext cx="17007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SymbolTable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61688" y="239572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158A3E"/>
                </a:solidFill>
                <a:latin typeface="微软雅黑"/>
              </a:rPr>
              <a:t>.sym.txt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6076188" y="2130552"/>
            <a:ext cx="169164" cy="146304"/>
          </a:xfrm>
          <a:prstGeom prst="rightArrow">
            <a:avLst/>
          </a:prstGeom>
          <a:solidFill>
            <a:srgbClr val="C2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59068" y="1627632"/>
            <a:ext cx="1700784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C277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59068" y="1627632"/>
            <a:ext cx="1700784" cy="68580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59068" y="1810512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语义分析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59068" y="2103120"/>
            <a:ext cx="17007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SemanticAnalyzer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59068" y="239572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C2770A"/>
                </a:solidFill>
                <a:latin typeface="微软雅黑"/>
              </a:rPr>
              <a:t>诊断输出</a:t>
            </a:r>
          </a:p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C2770A"/>
                </a:solidFill>
                <a:latin typeface="微软雅黑"/>
              </a:rPr>
              <a:t>(stderr)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7973568" y="2130552"/>
            <a:ext cx="169164" cy="146304"/>
          </a:xfrm>
          <a:prstGeom prst="rightArrow">
            <a:avLst/>
          </a:prstGeom>
          <a:solidFill>
            <a:srgbClr val="C2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56448" y="1627632"/>
            <a:ext cx="1700784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56448" y="1627632"/>
            <a:ext cx="1700784" cy="6858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56448" y="1810512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中间代码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56448" y="2103120"/>
            <a:ext cx="17007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IRGenerator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56448" y="239572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8B5CF6"/>
                </a:solidFill>
                <a:latin typeface="微软雅黑"/>
              </a:rPr>
              <a:t>.quad.txt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9870948" y="2130552"/>
            <a:ext cx="169164" cy="146304"/>
          </a:xfrm>
          <a:prstGeom prst="rightArrow">
            <a:avLst/>
          </a:prstGeom>
          <a:solidFill>
            <a:srgbClr val="C2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0053828" y="1627632"/>
            <a:ext cx="1700784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053828" y="1627632"/>
            <a:ext cx="1700784" cy="6858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3828" y="1810512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目标代码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3828" y="2103120"/>
            <a:ext cx="17007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CCodeGen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3828" y="239572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C0392B"/>
                </a:solidFill>
                <a:latin typeface="微软雅黑"/>
              </a:rPr>
              <a:t>.asm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" y="3127248"/>
            <a:ext cx="10927080" cy="566928"/>
          </a:xfrm>
          <a:prstGeom prst="rect">
            <a:avLst/>
          </a:prstGeom>
          <a:solidFill>
            <a:srgbClr val="F6F9FF"/>
          </a:solidFill>
          <a:ln w="12700">
            <a:solidFill>
              <a:srgbClr val="C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77240" y="3246120"/>
            <a:ext cx="105156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41F38"/>
                </a:solidFill>
                <a:latin typeface="微软雅黑"/>
              </a:rPr>
              <a:t>门禁：语法/语义错都继续往下收集、最后统一 stderr 报错并 exit 1；只有目标代码保持门禁 —— 不拿残缺 AST 生成脏汇编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" y="3913632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41F38"/>
                </a:solidFill>
                <a:latin typeface="微软雅黑"/>
              </a:rPr>
              <a:t>设计要点</a:t>
            </a:r>
          </a:p>
        </p:txBody>
      </p:sp>
      <p:sp>
        <p:nvSpPr>
          <p:cNvPr id="44" name="Oval 43"/>
          <p:cNvSpPr/>
          <p:nvPr/>
        </p:nvSpPr>
        <p:spPr>
          <a:xfrm>
            <a:off x="566928" y="439826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41247" y="4315968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按挑战版文法重写文法层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1247" y="4539996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105 条产生式 + 预测分析表驱动，不是手写递归下降</a:t>
            </a:r>
          </a:p>
        </p:txBody>
      </p:sp>
      <p:sp>
        <p:nvSpPr>
          <p:cNvPr id="47" name="Oval 46"/>
          <p:cNvSpPr/>
          <p:nvPr/>
        </p:nvSpPr>
        <p:spPr>
          <a:xfrm>
            <a:off x="566928" y="496519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41247" y="4882896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六个阶段靠数据结构串起来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7" y="5106924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TokenList → AST → 符号表 → CodeList，接口冻结在 docs/interface.md</a:t>
            </a:r>
          </a:p>
        </p:txBody>
      </p:sp>
      <p:sp>
        <p:nvSpPr>
          <p:cNvPr id="50" name="Oval 49"/>
          <p:cNvSpPr/>
          <p:nvPr/>
        </p:nvSpPr>
        <p:spPr>
          <a:xfrm>
            <a:off x="566928" y="5532120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41247" y="5449824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每种中间结果都落盘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41247" y="5673852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出错也能看到已经走到哪一步，答辩现场可直接对照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144768" y="3913632"/>
            <a:ext cx="5349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41F38"/>
                </a:solidFill>
                <a:latin typeface="微软雅黑"/>
              </a:rPr>
              <a:t>与基础版的差异（挑战版）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144768" y="4352544"/>
            <a:ext cx="2578608" cy="36576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5240">
            <a:solidFill>
              <a:srgbClr val="0E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0EA5A5"/>
                </a:solidFill>
                <a:latin typeface="微软雅黑"/>
              </a:rPr>
              <a:t>LL(1) 表驱动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869680" y="4352544"/>
            <a:ext cx="2578608" cy="36576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5240">
            <a:solidFill>
              <a:srgbClr val="2E6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18 类 AST 节点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144768" y="4828031"/>
            <a:ext cx="2578608" cy="36576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5240">
            <a:solidFill>
              <a:srgbClr val="15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158A3E"/>
                </a:solidFill>
                <a:latin typeface="微软雅黑"/>
              </a:rPr>
              <a:t>作用域链符号表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869680" y="4828031"/>
            <a:ext cx="2578608" cy="36576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5240">
            <a:solidFill>
              <a:srgbClr val="C277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C2770A"/>
                </a:solidFill>
                <a:latin typeface="微软雅黑"/>
              </a:rPr>
              <a:t>真短路求值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144768" y="5303520"/>
            <a:ext cx="2578608" cy="36576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524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C0392B"/>
                </a:solidFill>
                <a:latin typeface="微软雅黑"/>
              </a:rPr>
              <a:t>int/float 双向转换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869680" y="5303520"/>
            <a:ext cx="2578608" cy="36576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524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8B5CF6"/>
                </a:solidFill>
                <a:latin typeface="微软雅黑"/>
              </a:rPr>
              <a:t>x86-64 汇编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144768" y="5815584"/>
            <a:ext cx="5349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基础版只有声明 / 赋值 / 表达式；挑战版新增字符、布尔、数组、函数、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控制流、短路求值、++ / --、常量折叠（字符串字面量语法层不接受）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03  模块一 · 词法分析 CLex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把字符流切成 Token，并把每个 Token 的行列号记下来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54480"/>
            <a:ext cx="5212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41F38"/>
                </a:solidFill>
                <a:latin typeface="微软雅黑"/>
              </a:rPr>
              <a:t>实现要点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02082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3852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终结符编码表按设计文档编号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16255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001~005 为类型关键字，031~046 为运算符，051 标识符，099 EOF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62432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4203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双字符运算符最长匹配优先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7660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== != &lt;= &gt;= &amp;&amp; || ++ -- 先试两字符，失败再退回单字符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322783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14553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错误定位到行列并继续扫描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369564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遇到非法字符报错后跳过，一次编译列出全部词法错</a:t>
            </a:r>
          </a:p>
        </p:txBody>
      </p:sp>
      <p:sp>
        <p:nvSpPr>
          <p:cNvPr id="16" name="Oval 15"/>
          <p:cNvSpPr/>
          <p:nvPr/>
        </p:nvSpPr>
        <p:spPr>
          <a:xfrm>
            <a:off x="685800" y="3831335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3749039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字符与字符串支持转义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397306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'\n' '\t' '\\' '\'' 与 \" 转义，未闭合能单独报错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1554480"/>
            <a:ext cx="5212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41F38"/>
                </a:solidFill>
                <a:latin typeface="微软雅黑"/>
              </a:rPr>
              <a:t>实测：tests/test.mc 的 Token 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1956816"/>
            <a:ext cx="5212080" cy="2395728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63640" y="1956816"/>
            <a:ext cx="41148" cy="2395728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1" y="2066544"/>
            <a:ext cx="4937760" cy="22128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950">
                <a:solidFill>
                  <a:srgbClr val="64748B"/>
                </a:solidFill>
                <a:latin typeface="Consolas"/>
              </a:rPr>
              <a:t>// int a; float b; a = b + 1;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1:1   INT      'int'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1:5   IDENT    'a'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1:6   SEMI     ';'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2:1   FLOAT    'float'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2:7   IDENT    'b'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2:8   SEMI     ';'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3:1   IDENT    'a'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3:3   ASSIGN   '='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3:5   IDENT    'b'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3:7   PLUS     '+'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3:9   NUM_INT  '1'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3:10  SEMI     ';'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4:1   EOF      '&lt;eof&gt;'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4590288"/>
            <a:ext cx="5138928" cy="1572768"/>
          </a:xfrm>
          <a:prstGeom prst="rect">
            <a:avLst/>
          </a:prstGeom>
          <a:solidFill>
            <a:srgbClr val="FEFBF3"/>
          </a:solidFill>
          <a:ln w="12700">
            <a:solidFill>
              <a:srgbClr val="F0D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4754880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C2770A"/>
                </a:solidFill>
                <a:latin typeface="微软雅黑"/>
              </a:rPr>
              <a:t>错误用例 lex_test / bad_lex 实测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" y="5074920"/>
            <a:ext cx="47548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7A5A1E"/>
                </a:solidFill>
                <a:latin typeface="微软雅黑"/>
              </a:rPr>
              <a:t>bad_lex.mc 一次报出 8 条：非法字符 '@' '$'、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7A5A1E"/>
                </a:solidFill>
                <a:latin typeface="微软雅黑"/>
              </a:rPr>
              <a:t>多点数字 3.14.15、字符串内换行、未闭合字符串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7A5A1E"/>
                </a:solidFill>
                <a:latin typeface="微软雅黑"/>
              </a:rPr>
              <a:t>—— 报错后不中断，全部列出后才退出 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63640" y="4407408"/>
            <a:ext cx="5212080" cy="1755648"/>
          </a:xfrm>
          <a:prstGeom prst="rect">
            <a:avLst/>
          </a:prstGeom>
          <a:solidFill>
            <a:srgbClr val="F4FBF6"/>
          </a:solidFill>
          <a:ln w="12700">
            <a:solidFill>
              <a:srgbClr val="C3E6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73952" y="457200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58A3E"/>
                </a:solidFill>
                <a:latin typeface="微软雅黑"/>
              </a:rPr>
              <a:t>验收结论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73952" y="4882896"/>
            <a:ext cx="48463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B4F2E"/>
                </a:solidFill>
                <a:latin typeface="微软雅黑"/>
              </a:rPr>
              <a:t>6/6 词法回归用例通过；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1B4F2E"/>
                </a:solidFill>
                <a:latin typeface="微软雅黑"/>
              </a:rPr>
              <a:t>41 个 Token 的 lex_test.mc 全部识别正确（含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1B4F2E"/>
                </a:solidFill>
                <a:latin typeface="微软雅黑"/>
              </a:rPr>
              <a:t>STRING "hello world" 与转义字符）；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1B4F2E"/>
                </a:solidFill>
                <a:latin typeface="微软雅黑"/>
              </a:rPr>
              <a:t>0 个 -Wchar-subscripts 警告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04  模块二 · 语法分析 CParser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105 条产生式的 LL(1) 预测分析表，全程无回溯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为什么是表驱动而不是递归下降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198424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0195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文法一改，行为自动跟着改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1259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行为全部由 g_Grammar 数据驱动，代码里没有手写分支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62432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4203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可输出完整分析轨迹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7660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--dump-parse 给出每一步的符号栈与剩余输入，便于讲解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326440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18211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冲突在构造期就暴露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40614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SELECT 集相交直接报错，而不是运行时才发现解析不了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877056"/>
            <a:ext cx="5029200" cy="658368"/>
          </a:xfrm>
          <a:prstGeom prst="rect">
            <a:avLst/>
          </a:prstGeom>
          <a:solidFill>
            <a:srgbClr val="F1F5F9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4005072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F2937"/>
                </a:solidFill>
                <a:latin typeface="Consolas"/>
              </a:rPr>
              <a:t>程序 → 声明部分 语句部分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1F2937"/>
                </a:solidFill>
                <a:latin typeface="Consolas"/>
              </a:rPr>
              <a:t>声明部分 → 声明 声明部分 | 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1536192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分析过程实测（tests/test.mc）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1901952"/>
            <a:ext cx="5212080" cy="2697480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1901952"/>
            <a:ext cx="41148" cy="269748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28231" y="2011680"/>
            <a:ext cx="4937760" cy="2514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产生式 105 条 / 分析步骤 68 / 结果 接受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步骤  符号栈          剩余输入      动作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1   $ 程序          int a ; ...   程序→声明部分 语句部分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2   $ 语句部分 声明部分  int ...   声明部分→声明 声明部分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3   $ ... 声明        int a ; ...   声明→类型 标识符 ;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...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48   $ 语句部分        ... ;        声明部分→ε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...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68   $               $            接受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4754880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F38"/>
                </a:solidFill>
                <a:latin typeface="微软雅黑"/>
              </a:rPr>
              <a:t>AST：19 项枚举 / 18 类在用，前序打印带行列号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5029200"/>
            <a:ext cx="5212080" cy="1207008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63640" y="5029200"/>
            <a:ext cx="41148" cy="1207008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28231" y="5138928"/>
            <a:ext cx="4937760" cy="10241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Program @1:1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 Decl(INT a) @1:1     Decl(FLOAT b) @2:1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 Assign @3:1 -&gt; Ident(a) @3:1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   BinOp(PLUS) @3:7 -&gt; Ident(b) @3:5 / Num(1) @3:9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 UnOp(INC) @4:1     UnOp(NOT) @5:1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05  模块三 · 符号表 SymbolTable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七张分表 + 作用域栈，让每次查名都只看得见该看见的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2029968" cy="1481328"/>
          </a:xfrm>
          <a:prstGeom prst="rect">
            <a:avLst/>
          </a:prstGeom>
          <a:solidFill>
            <a:srgbClr val="FFFFFF"/>
          </a:solidFill>
          <a:ln w="16510">
            <a:solidFill>
              <a:srgbClr val="2E6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27632"/>
            <a:ext cx="2029968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810512"/>
            <a:ext cx="20299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变量表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084831"/>
            <a:ext cx="20299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VarTbl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59152"/>
            <a:ext cx="184708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RecVar / RecArray</a:t>
            </a:r>
          </a:p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类型、行列、作用域层级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80360" y="1627632"/>
            <a:ext cx="2029968" cy="1481328"/>
          </a:xfrm>
          <a:prstGeom prst="rect">
            <a:avLst/>
          </a:prstGeom>
          <a:solidFill>
            <a:srgbClr val="FFFFFF"/>
          </a:solidFill>
          <a:ln w="16510">
            <a:solidFill>
              <a:srgbClr val="0E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880360" y="1627632"/>
            <a:ext cx="2029968" cy="54864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80360" y="1810512"/>
            <a:ext cx="20299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常量表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0360" y="2084831"/>
            <a:ext cx="20299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ConstTbl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1800" y="2359152"/>
            <a:ext cx="184708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RecConst / BackfillConst</a:t>
            </a:r>
          </a:p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编译期常量回填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74920" y="1627632"/>
            <a:ext cx="2029968" cy="1481328"/>
          </a:xfrm>
          <a:prstGeom prst="rect">
            <a:avLst/>
          </a:prstGeom>
          <a:solidFill>
            <a:srgbClr val="FFFFFF"/>
          </a:solidFill>
          <a:ln w="16510">
            <a:solidFill>
              <a:srgbClr val="15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74920" y="1627632"/>
            <a:ext cx="2029968" cy="54864"/>
          </a:xfrm>
          <a:prstGeom prst="rect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74920" y="1810512"/>
            <a:ext cx="20299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类型表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2084831"/>
            <a:ext cx="20299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TypeTbl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66359" y="2359152"/>
            <a:ext cx="184708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RecBuiltinTypes / RecArrayType</a:t>
            </a:r>
          </a:p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5 个内建 + 数组类型 × 宽度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69479" y="1627632"/>
            <a:ext cx="2029968" cy="1481328"/>
          </a:xfrm>
          <a:prstGeom prst="rect">
            <a:avLst/>
          </a:prstGeom>
          <a:solidFill>
            <a:srgbClr val="FFFFFF"/>
          </a:solidFill>
          <a:ln w="16510">
            <a:solidFill>
              <a:srgbClr val="C277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69479" y="1627632"/>
            <a:ext cx="2029968" cy="54864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69479" y="1810512"/>
            <a:ext cx="20299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过程表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69479" y="2084831"/>
            <a:ext cx="20299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ProcTbl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60919" y="2359152"/>
            <a:ext cx="184708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ProcEntry + ParamEntry</a:t>
            </a:r>
          </a:p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形参与四元式挂载点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64040" y="1627632"/>
            <a:ext cx="2029968" cy="1481328"/>
          </a:xfrm>
          <a:prstGeom prst="rect">
            <a:avLst/>
          </a:prstGeom>
          <a:solidFill>
            <a:srgbClr val="FFFFFF"/>
          </a:solidFill>
          <a:ln w="1651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64040" y="1627632"/>
            <a:ext cx="2029968" cy="5486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64040" y="1810512"/>
            <a:ext cx="20299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标号表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64040" y="2084831"/>
            <a:ext cx="20299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LabelTbl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55480" y="2359152"/>
            <a:ext cx="184708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由 IR 的 LABEL 四元式登记</a:t>
            </a:r>
          </a:p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L1 L2 … 标号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336499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作用域链的维护</a:t>
            </a:r>
          </a:p>
        </p:txBody>
      </p:sp>
      <p:sp>
        <p:nvSpPr>
          <p:cNvPr id="32" name="Oval 31"/>
          <p:cNvSpPr/>
          <p:nvPr/>
        </p:nvSpPr>
        <p:spPr>
          <a:xfrm>
            <a:off x="685800" y="381304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0120" y="373075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m_varScopeStack 是 vector&lt;unordered_map&gt;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" y="39547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进入左花括号压一层，退出右花括号弹一层</a:t>
            </a:r>
          </a:p>
        </p:txBody>
      </p:sp>
      <p:sp>
        <p:nvSpPr>
          <p:cNvPr id="35" name="Oval 34"/>
          <p:cNvSpPr/>
          <p:nvPr/>
        </p:nvSpPr>
        <p:spPr>
          <a:xfrm>
            <a:off x="685800" y="4471416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60120" y="438912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RecVar 只看当前作用域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20" y="461314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内层同名变量合法遮蔽外层，不再误报重复定义</a:t>
            </a:r>
          </a:p>
        </p:txBody>
      </p:sp>
      <p:sp>
        <p:nvSpPr>
          <p:cNvPr id="38" name="Oval 37"/>
          <p:cNvSpPr/>
          <p:nvPr/>
        </p:nvSpPr>
        <p:spPr>
          <a:xfrm>
            <a:off x="685800" y="5129783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60120" y="504748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RecVarTbl 重名返回已存在下标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0120" y="5271516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修掉 bccd313 的缺陷：重名时新建表项导致下标错乱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63640" y="3364992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产物实样：.sym.txt 六节分表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63640" y="3675887"/>
            <a:ext cx="5212080" cy="1755648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263640" y="3675887"/>
            <a:ext cx="41148" cy="1755648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28231" y="3785615"/>
            <a:ext cx="4937760" cy="15727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950">
                <a:solidFill>
                  <a:srgbClr val="64748B"/>
                </a:solidFill>
                <a:latin typeface="Consolas"/>
              </a:rPr>
              <a:t>// --- Variables ---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a : INT  @line 1  scope 1   b : FLOAT  @line 2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64748B"/>
                </a:solidFill>
                <a:latin typeface="Consolas"/>
              </a:rPr>
              <a:t>// --- Constants ---   1 : INT = 1  @line 3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64748B"/>
                </a:solidFill>
                <a:latin typeface="Consolas"/>
              </a:rPr>
              <a:t>// --- Types ---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int : INT  size 4    char : CHAR  size 1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INT[5] : INT  array 5  size 20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64748B"/>
                </a:solidFill>
                <a:latin typeface="Consolas"/>
              </a:rPr>
              <a:t>// --- Procedures ---   // --- Params ---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add.x : INT  #1  @line 6  scope 2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64748B"/>
                </a:solidFill>
                <a:latin typeface="Consolas"/>
              </a:rPr>
              <a:t>// --- Labels ---   L1 @line 16   L2 @line 16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63640" y="5541264"/>
            <a:ext cx="5212080" cy="676656"/>
          </a:xfrm>
          <a:prstGeom prst="rect">
            <a:avLst/>
          </a:prstGeom>
          <a:solidFill>
            <a:srgbClr val="FDF8F0"/>
          </a:solidFill>
          <a:ln w="12700">
            <a:solidFill>
              <a:srgbClr val="E8D5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0" y="5596128"/>
            <a:ext cx="49377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6B4E1E"/>
                </a:solidFill>
                <a:latin typeface="微软雅黑"/>
              </a:rPr>
              <a:t>注：Types / Params / Labels 三节此前恒空 —— RecType、形参表、RecLabel</a:t>
            </a:r>
          </a:p>
          <a:p>
            <a:pPr algn="l">
              <a:lnSpc>
                <a:spcPct val="120000"/>
              </a:lnSpc>
            </a:pPr>
            <a:r>
              <a:rPr sz="950" b="0">
                <a:solidFill>
                  <a:srgbClr val="6B4E1E"/>
                </a:solidFill>
                <a:latin typeface="微软雅黑"/>
              </a:rPr>
              <a:t>都没有调用点。现已接上，标号由 IR 的 LABEL 四元式登记，</a:t>
            </a:r>
          </a:p>
          <a:p>
            <a:pPr algn="l">
              <a:lnSpc>
                <a:spcPct val="120000"/>
              </a:lnSpc>
            </a:pPr>
            <a:r>
              <a:rPr sz="950" b="0">
                <a:solidFill>
                  <a:srgbClr val="6B4E1E"/>
                </a:solidFill>
                <a:latin typeface="微软雅黑"/>
              </a:rPr>
              <a:t>故 dump 时机必须从语义之后挪到 IR 之后。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06  模块四 · 语义分析 SemanticAnalyzer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遍历 AST，一边登记符号一边校验类型，错误带行列号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544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做三件事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1938528"/>
            <a:ext cx="384048" cy="384048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7008" y="19568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①  登记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7008" y="2249424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把声明写进符号表，EnterScope / ExitScope 与块结构严格成对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724912"/>
            <a:ext cx="384048" cy="384048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07008" y="274320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②  校验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8" y="3035808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未声明就使用、重复定义、形参与体内变量同名、逻辑运算操作数必须是 bool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3511296"/>
            <a:ext cx="384048" cy="384048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07008" y="352958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③  推导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07008" y="3822191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DeduceBinOp 统一出口推导表达式类型，必要时产出隐式转换告警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1554480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诊断实测：27 例语义回归逐字比对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83664"/>
            <a:ext cx="5212080" cy="2596896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63640" y="1883664"/>
            <a:ext cx="41148" cy="2596896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8231" y="1993392"/>
            <a:ext cx="4937760" cy="24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err_duplicate.mc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error: 4:1: duplicate variable 'a'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/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err_undeclared.mc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error: 6:5: undefined identifier b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/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err_logical_type.mc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error: 7:11: logical operators require bool operands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/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err_bool_arith.mc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error: 7:11: arithmetic operands must be numeric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/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ok_float2int_warn.mc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warning: 7:5: implicit conversion from float to int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4553712"/>
            <a:ext cx="10789920" cy="1609344"/>
          </a:xfrm>
          <a:prstGeom prst="rect">
            <a:avLst/>
          </a:prstGeom>
          <a:solidFill>
            <a:srgbClr val="F6F9FF"/>
          </a:solidFill>
          <a:ln w="12700">
            <a:solidFill>
              <a:srgbClr val="C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" y="4700016"/>
            <a:ext cx="10332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这一套是本次专门补的：四段前端里语义原本是唯一没有独立回归的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" y="5029200"/>
            <a:ext cx="103327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2A3E5C"/>
                </a:solidFill>
                <a:latin typeface="微软雅黑"/>
              </a:rPr>
              <a:t>机制：用例首行写 /* expect: ok | err | warn:N */，runner 自动决定退出码与诊断条数，新增用例不必改脚本。</a:t>
            </a:r>
          </a:p>
          <a:p>
            <a:pPr algn="l">
              <a:lnSpc>
                <a:spcPct val="140000"/>
              </a:lnSpc>
            </a:pPr>
            <a:r>
              <a:rPr sz="1150" b="0">
                <a:solidFill>
                  <a:srgbClr val="2A3E5C"/>
                </a:solidFill>
                <a:latin typeface="微软雅黑"/>
              </a:rPr>
              <a:t>比对口径是完整的「文件:行:列: 消息」原文 —— 位置错一位、措辞改一个字都会 FAIL，能防止"报了个错就算过"。</a:t>
            </a:r>
          </a:p>
          <a:p>
            <a:pPr algn="l">
              <a:lnSpc>
                <a:spcPct val="140000"/>
              </a:lnSpc>
            </a:pPr>
            <a:r>
              <a:rPr sz="1150" b="0">
                <a:solidFill>
                  <a:srgbClr val="2A3E5C"/>
                </a:solidFill>
                <a:latin typeface="微软雅黑"/>
              </a:rPr>
              <a:t>反例自证：把 6:5 改成 5:5，立刻 [FAIL] diagnostics mismatch；把 expect 改成 ok，立刻 [FAIL] expected exit code 0, got 1。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07  模块五 · 中间代码 IRGenerator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两轮翻译：表达式递归求值出临时变量，语句摊平成跳转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两个必修缺陷（整改后已复验）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883664"/>
            <a:ext cx="5120640" cy="1517904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883664"/>
            <a:ext cx="41148" cy="1517904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993392"/>
            <a:ext cx="4846320" cy="13350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操作码照参考书表 5-2：大类名 + 宽度后缀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修复前：a = a + 1 直接算，类型不匹配也不管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修复后：int 参与 float 运算自动插 ITOF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(ITOF, 1, -, _T1)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(ADD_4F, b, _T1, _T2)     // 4 字节单精度加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(FTOI, _T2, -, _T3)       // 回写 int 时反向转换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(ASSIGN_4, _T3, -, a)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3566160"/>
            <a:ext cx="5120640" cy="1700784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3566160"/>
            <a:ext cx="41148" cy="1700784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675887"/>
            <a:ext cx="4846320" cy="15179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修复前：c = a &amp;&amp; b 两边都求值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修复后：真短路，短路侧的操作数从不参与求值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(JNT, a, -, L1)                 // 假则跳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(ASSIGN_4, b, -, _T1)           // 只有 a 为真才执行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(JMP, -, -, L2)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(LABEL, L1, -, -)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(ASSIGN_4, 0, -, _T1)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(LABEL, L2, -, -)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1536192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四元式回归：18 例锁结构不锁输出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1865376"/>
            <a:ext cx="5212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端到端只比 stdout：求值顺序、临时变量编号、标号编号、短路展开形态全变了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也照样输出对 —— 所以专门比对 .quad.txt 本身。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2615184"/>
            <a:ext cx="5212080" cy="31089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2679191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41F38"/>
                </a:solidFill>
                <a:latin typeface="Consolas"/>
              </a:rPr>
              <a:t>arith_int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49640" y="268833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左结合与 */ 优先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3640" y="2980944"/>
            <a:ext cx="5212080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19088" y="3044951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41F38"/>
                </a:solidFill>
                <a:latin typeface="Consolas"/>
              </a:rPr>
              <a:t>mixed_conv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49640" y="305409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int↔float 双向转换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3346704"/>
            <a:ext cx="5212080" cy="31089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19088" y="3410712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41F38"/>
                </a:solidFill>
                <a:latin typeface="Consolas"/>
              </a:rPr>
              <a:t>logic_short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341985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&amp;&amp; || 真短路展开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3712464"/>
            <a:ext cx="5212080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19088" y="3776472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41F38"/>
                </a:solidFill>
                <a:latin typeface="Consolas"/>
              </a:rPr>
              <a:t>while_loop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49640" y="37856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入口 LABEL + JNT + 回跳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63640" y="4078224"/>
            <a:ext cx="5212080" cy="31089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19088" y="4142232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41F38"/>
                </a:solidFill>
                <a:latin typeface="Consolas"/>
              </a:rPr>
              <a:t>call_nested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49640" y="415137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PARA 不与外层交错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63640" y="4443983"/>
            <a:ext cx="5212080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19088" y="4507992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41F38"/>
                </a:solidFill>
                <a:latin typeface="Consolas"/>
              </a:rPr>
              <a:t>array_index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49640" y="451713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读写共用 INDEX_4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4956048"/>
            <a:ext cx="5212080" cy="1207008"/>
          </a:xfrm>
          <a:prstGeom prst="rect">
            <a:avLst/>
          </a:prstGeom>
          <a:solidFill>
            <a:srgbClr val="FDF4F4"/>
          </a:solidFill>
          <a:ln w="12700">
            <a:solidFill>
              <a:srgbClr val="EEC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73952" y="5102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C0392B"/>
                </a:solidFill>
                <a:latin typeface="微软雅黑"/>
              </a:rPr>
              <a:t>常量折叠 + 基线命名的坑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73952" y="5358384"/>
            <a:ext cx="48463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050" b="0">
                <a:solidFill>
                  <a:srgbClr val="7A2A22"/>
                </a:solidFill>
                <a:latin typeface="微软雅黑"/>
              </a:rPr>
              <a:t>常量折叠：两侧皆常量时编译期算完，a = 1 + 2 * 3 → (ASSIGN_4, 7, -, a)；</a:t>
            </a:r>
          </a:p>
          <a:p>
            <a:pPr algn="l">
              <a:lnSpc>
                <a:spcPct val="124000"/>
              </a:lnSpc>
            </a:pPr>
            <a:r>
              <a:rPr sz="1050" b="0">
                <a:solidFill>
                  <a:srgbClr val="7A2A22"/>
                </a:solidFill>
                <a:latin typeface="微软雅黑"/>
              </a:rPr>
              <a:t>除零/溢出/&amp;&amp; || 故意不折。基线叫 *.expected.quad.txt 而非 *.quad.txt，</a:t>
            </a:r>
          </a:p>
          <a:p>
            <a:pPr algn="l">
              <a:lnSpc>
                <a:spcPct val="124000"/>
              </a:lnSpc>
            </a:pPr>
            <a:r>
              <a:rPr sz="1050" b="0">
                <a:solidFill>
                  <a:srgbClr val="7A2A22"/>
                </a:solidFill>
                <a:latin typeface="微软雅黑"/>
              </a:rPr>
              <a:t>否则会被随手编一次 test.mc 覆盖掉。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08  模块六 · 目标代码 CCodeGen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把四元式逐条翻成 x86-64，能被 gcc 直接汇编链接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两端对齐：四元式 ↔ 汇编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883664"/>
            <a:ext cx="5120640" cy="1371600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883664"/>
            <a:ext cx="41148" cy="137160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993392"/>
            <a:ext cx="4846320" cy="11887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(ITOF, 1, -, _T1)     cvtsi2ss  ...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(ADD_4F, b, _T1, _T2) addss    ...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(FTOI, _T2, -, _T3)   cvttss2si ...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(ASSIGN_4, _T3, -, a) movl      ...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40156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F38"/>
                </a:solidFill>
                <a:latin typeface="微软雅黑"/>
              </a:rPr>
              <a:t>生成的汇编（tests/test.asm，47 行）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730752"/>
            <a:ext cx="5120640" cy="2432304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3730752"/>
            <a:ext cx="41148" cy="2432304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" y="3840480"/>
            <a:ext cx="4846320" cy="22494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.globl main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.data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a:      .zero 8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b:      .zero 8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.text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main: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pushq %rbp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movq  %rsp, %rbp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subq  $32, %rsp        # 栈帧 32 字节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...                    # ITOF/addss/cvttss2si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.Lret0: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leave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ret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1536192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关键决策：入口用 main 而不是 _start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1883664"/>
            <a:ext cx="52120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验收指南示例写的是 .globl _start，但目标平台定为 Windows MinGW：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_start 是 Linux 系统调用的入口，在 MinGW 下无法链接。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改成 global main + main: 后，gcc -x assembler 一条命令就能汇编并链接出 exe。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该决策记录在 docs/interface.md 第 7、14 条。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3291840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正确性怎么证明的</a:t>
            </a:r>
          </a:p>
        </p:txBody>
      </p:sp>
      <p:sp>
        <p:nvSpPr>
          <p:cNvPr id="17" name="Oval 16"/>
          <p:cNvSpPr/>
          <p:nvPr/>
        </p:nvSpPr>
        <p:spPr>
          <a:xfrm>
            <a:off x="6263640" y="372160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59" y="363931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2937"/>
                </a:solidFill>
                <a:latin typeface="微软雅黑"/>
              </a:rPr>
              <a:t>912 例两组差分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59" y="3863339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微软雅黑"/>
              </a:rPr>
              <a:t>gcc 编译等价 C 版对照 480 例 + Python 独立求值器 432 例，0 不一致</a:t>
            </a:r>
          </a:p>
        </p:txBody>
      </p:sp>
      <p:sp>
        <p:nvSpPr>
          <p:cNvPr id="20" name="Oval 19"/>
          <p:cNvSpPr/>
          <p:nvPr/>
        </p:nvSpPr>
        <p:spPr>
          <a:xfrm>
            <a:off x="6263640" y="4379976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59" y="429768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2937"/>
                </a:solidFill>
                <a:latin typeface="微软雅黑"/>
              </a:rPr>
              <a:t>30 例端到端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59" y="452170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微软雅黑"/>
              </a:rPr>
              <a:t>汇编 → 链接 → 运行 → 比对 stdout</a:t>
            </a:r>
          </a:p>
        </p:txBody>
      </p:sp>
      <p:sp>
        <p:nvSpPr>
          <p:cNvPr id="23" name="Oval 22"/>
          <p:cNvSpPr/>
          <p:nvPr/>
        </p:nvSpPr>
        <p:spPr>
          <a:xfrm>
            <a:off x="6263640" y="503834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59" y="495604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2937"/>
                </a:solidFill>
                <a:latin typeface="微软雅黑"/>
              </a:rPr>
              <a:t>16 字节栈对齐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59" y="518007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微软雅黑"/>
              </a:rPr>
              <a:t>否则 printf 里会崩，属于最难查的一类 bug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63640" y="5669280"/>
            <a:ext cx="5212080" cy="493776"/>
          </a:xfrm>
          <a:prstGeom prst="rect">
            <a:avLst/>
          </a:prstGeom>
          <a:solidFill>
            <a:srgbClr val="F4FBF6"/>
          </a:solidFill>
          <a:ln w="12700">
            <a:solidFill>
              <a:srgbClr val="C3E6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5797296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58A3E"/>
                </a:solidFill>
                <a:latin typeface="微软雅黑"/>
              </a:rPr>
              <a:t>ack(3,3) = 61 — 递归 + 多实参调用跑通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09  收尾修复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8 个后端缺陷：都是只有真跑起来才会暴露的问题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45920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45920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1755648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嵌套调用实参错序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05740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f(g(1), g(2)) 里外层 PARA 与内层 CALL 交错，实参被对调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01768" y="1755648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339b6b4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1645920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26480" y="1645920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27648" y="1755648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空函数不产函数体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7648" y="205740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void f() {} 只生成标号就结束，调用时跳到不该去的地方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42448" y="1755648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339b6b4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2615184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" y="2615184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" y="2724912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出错仍产 .asm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" y="3026664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前面阶段报错了还继续生成汇编，留下半截文件误导人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01768" y="2724912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339b6b4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2615184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26480" y="2615184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27648" y="2724912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重复 main 标号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7648" y="3026664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用户自己也写 int main() 时与框架的 main: 撞名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42448" y="2724912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20a61f4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3584448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85800" y="3584448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6968" y="3694176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显式 return 被清零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6968" y="399592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return 42; 之后又补了 return 0，结果恒为 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01768" y="3694176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e8a976d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26480" y="3584448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26480" y="3584448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27648" y="3694176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裸 return 带残值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27648" y="399592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return; 复用了上一个表达式的寄存器残留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42448" y="3694176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e8a976d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5800" y="4553712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85800" y="4553712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6968" y="4663440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无 return 返回垃圾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6968" y="496519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int 函数不写 return 时返回栈上垃圾值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01768" y="4663440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e8a976d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26480" y="4553712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126480" y="4553712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27648" y="4663440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嵌套函数未拦截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27648" y="496519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函数里定义函数，文法允许但语义上非法，需在语义层拦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442448" y="4663440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96daa5f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85800" y="5705856"/>
            <a:ext cx="10789920" cy="566928"/>
          </a:xfrm>
          <a:prstGeom prst="rect">
            <a:avLst/>
          </a:prstGeom>
          <a:solidFill>
            <a:srgbClr val="F6F9FF"/>
          </a:solidFill>
          <a:ln w="12700">
            <a:solidFill>
              <a:srgbClr val="C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96112" y="5852160"/>
            <a:ext cx="10332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41F38"/>
                </a:solidFill>
                <a:latin typeface="微软雅黑"/>
              </a:rPr>
              <a:t>共同点：全都只在"真编译、真链接、真运行"时才暴露 —— 只看代码或只看能不能编译通过，一个都发现不了。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10  测试体系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11 套回归，一条 build.bat test 全绿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27632"/>
            <a:ext cx="3456432" cy="4572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92224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词法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1810512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2E6CE6"/>
                </a:solidFill>
                <a:latin typeface="微软雅黑"/>
              </a:rPr>
              <a:t>6 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39696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.token.txt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25112" y="1627632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5112" y="1627632"/>
            <a:ext cx="3456432" cy="4572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07992" y="1792224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文法自检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1810512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2E6CE6"/>
                </a:solidFill>
                <a:latin typeface="微软雅黑"/>
              </a:rPr>
              <a:t>21 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07992" y="2139696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SELECT 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64424" y="1627632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64424" y="1627632"/>
            <a:ext cx="3456432" cy="4572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47304" y="1792224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语法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96144" y="1810512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0EA5A5"/>
                </a:solidFill>
                <a:latin typeface="微软雅黑"/>
              </a:rPr>
              <a:t>50 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47304" y="2139696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.ast.txt / .err.txt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2761488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5800" y="2761488"/>
            <a:ext cx="3456432" cy="4572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2926080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语法单测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17520" y="2944368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0EA5A5"/>
                </a:solidFill>
                <a:latin typeface="微软雅黑"/>
              </a:rPr>
              <a:t>17 输入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3273552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20 断言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25112" y="2761488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25112" y="2761488"/>
            <a:ext cx="3456432" cy="45720"/>
          </a:xfrm>
          <a:prstGeom prst="rect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07992" y="2926080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符号表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56832" y="2944368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158A3E"/>
                </a:solidFill>
                <a:latin typeface="微软雅黑"/>
              </a:rPr>
              <a:t>8 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07992" y="3273552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作用域链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964424" y="2761488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64424" y="2761488"/>
            <a:ext cx="3456432" cy="45720"/>
          </a:xfrm>
          <a:prstGeom prst="rect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47304" y="2926080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symtab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96144" y="2944368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158A3E"/>
                </a:solidFill>
                <a:latin typeface="微软雅黑"/>
              </a:rPr>
              <a:t>2 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47304" y="3273552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.sym.txt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5800" y="3895344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85800" y="3895344"/>
            <a:ext cx="3456432" cy="45720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4059935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语义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017520" y="4078224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C2770A"/>
                </a:solidFill>
                <a:latin typeface="微软雅黑"/>
              </a:rPr>
              <a:t>27 例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" y="4407408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诊断原文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25112" y="3895344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325112" y="3895344"/>
            <a:ext cx="3456432" cy="45720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07992" y="4059935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四元式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56832" y="4078224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C2770A"/>
                </a:solidFill>
                <a:latin typeface="微软雅黑"/>
              </a:rPr>
              <a:t>18 例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07992" y="4407408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.quad.txt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964424" y="3895344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964424" y="3895344"/>
            <a:ext cx="3456432" cy="457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147304" y="4059935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目标代码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296144" y="4078224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C0392B"/>
                </a:solidFill>
                <a:latin typeface="微软雅黑"/>
              </a:rPr>
              <a:t>30 例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147304" y="4407408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编译→运行→stdout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85800" y="5138928"/>
            <a:ext cx="10789920" cy="457200"/>
          </a:xfrm>
          <a:prstGeom prst="rect">
            <a:avLst/>
          </a:prstGeom>
          <a:solidFill>
            <a:srgbClr val="F4FBF6"/>
          </a:solidFill>
          <a:ln w="12700">
            <a:solidFill>
              <a:srgbClr val="C3E6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96112" y="5248656"/>
            <a:ext cx="10332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58A3E"/>
                </a:solidFill>
                <a:latin typeface="微软雅黑"/>
              </a:rPr>
              <a:t>+ 2 套 GUI 冒烟（book-smoke 55 条断言 / sample-smoke 22 条）  →  合计 11 套，ALL TEST SUITES PASSED，exit 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5800" y="574243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为什么不是只看退出码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5800" y="6053328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每套都锁死自己那一层的中间产物：词法比 .token.txt、语法比 .ast.txt 与报错原文、符号表比 .sym.txt、语义比诊断含行列号、中间代码比 .quad.txt 结构、目标代码走"汇编→链接→运行→比 stdout"。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11  正确性验证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两组独立基准反查：912 例，零不一致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544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两组基准，互相补位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002536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2024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基准一：gcc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14426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同一逻辑写 .mc 与 .c 两份，各走自己的编译器，逐行比对 stdout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66090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7860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基准二：Python 求值器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802636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随机表达式树深度 4，另写参考求值器，不共享编译器任何代码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331927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236976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为什么两组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461004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gcc 覆盖函数/递归/数组；Python 覆盖优先级与类型转换，单组都有盲区</a:t>
            </a:r>
          </a:p>
        </p:txBody>
      </p:sp>
      <p:sp>
        <p:nvSpPr>
          <p:cNvPr id="16" name="Oval 15"/>
          <p:cNvSpPr/>
          <p:nvPr/>
        </p:nvSpPr>
        <p:spPr>
          <a:xfrm>
            <a:off x="685800" y="3977639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3895344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除零用例跳过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11937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除数求值为 0 的不计入，避免把未定义行为算成缺陷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4681728"/>
            <a:ext cx="2514600" cy="1188720"/>
          </a:xfrm>
          <a:prstGeom prst="rect">
            <a:avLst/>
          </a:prstGeom>
          <a:solidFill>
            <a:srgbClr val="FFFFFF"/>
          </a:solidFill>
          <a:ln w="15240">
            <a:solidFill>
              <a:srgbClr val="2E6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846320"/>
            <a:ext cx="2514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>
                <a:solidFill>
                  <a:srgbClr val="2E6CE6"/>
                </a:solidFill>
                <a:latin typeface="微软雅黑"/>
              </a:rPr>
              <a:t>480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358384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例 gcc 基准</a:t>
            </a:r>
          </a:p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0 不一致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37560" y="4681728"/>
            <a:ext cx="2514600" cy="1188720"/>
          </a:xfrm>
          <a:prstGeom prst="rect">
            <a:avLst/>
          </a:prstGeom>
          <a:solidFill>
            <a:srgbClr val="FFFFFF"/>
          </a:solidFill>
          <a:ln w="15240">
            <a:solidFill>
              <a:srgbClr val="0E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37560" y="4846320"/>
            <a:ext cx="2514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>
                <a:solidFill>
                  <a:srgbClr val="0EA5A5"/>
                </a:solidFill>
                <a:latin typeface="微软雅黑"/>
              </a:rPr>
              <a:t>432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37560" y="5358384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例 Python 基准</a:t>
            </a:r>
          </a:p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207 int + 225 float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1554480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边界场景也覆盖了</a:t>
            </a:r>
          </a:p>
        </p:txBody>
      </p:sp>
      <p:sp>
        <p:nvSpPr>
          <p:cNvPr id="26" name="Oval 25"/>
          <p:cNvSpPr/>
          <p:nvPr/>
        </p:nvSpPr>
        <p:spPr>
          <a:xfrm>
            <a:off x="6263640" y="1993392"/>
            <a:ext cx="109728" cy="109728"/>
          </a:xfrm>
          <a:prstGeom prst="ellipse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528" y="1920240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递归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10528" y="219456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ack(3,3) = 61，递归 + 多实参调用全链路正确</a:t>
            </a:r>
          </a:p>
        </p:txBody>
      </p:sp>
      <p:sp>
        <p:nvSpPr>
          <p:cNvPr id="29" name="Oval 28"/>
          <p:cNvSpPr/>
          <p:nvPr/>
        </p:nvSpPr>
        <p:spPr>
          <a:xfrm>
            <a:off x="6263640" y="2670048"/>
            <a:ext cx="109728" cy="109728"/>
          </a:xfrm>
          <a:prstGeom prst="ellipse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10528" y="2596896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深递归与规模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10528" y="2871215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20 000 层递归、100 个函数、50 层括号、5 000 元素局部数组</a:t>
            </a:r>
          </a:p>
        </p:txBody>
      </p:sp>
      <p:sp>
        <p:nvSpPr>
          <p:cNvPr id="32" name="Oval 31"/>
          <p:cNvSpPr/>
          <p:nvPr/>
        </p:nvSpPr>
        <p:spPr>
          <a:xfrm>
            <a:off x="6263640" y="3346704"/>
            <a:ext cx="109728" cy="109728"/>
          </a:xfrm>
          <a:prstGeom prst="ellipse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528" y="3273552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汇编确定性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10528" y="3547872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同一份源码两次编译，.asm 的 SHA256 完全一致</a:t>
            </a:r>
          </a:p>
        </p:txBody>
      </p:sp>
      <p:sp>
        <p:nvSpPr>
          <p:cNvPr id="35" name="Oval 34"/>
          <p:cNvSpPr/>
          <p:nvPr/>
        </p:nvSpPr>
        <p:spPr>
          <a:xfrm>
            <a:off x="6263640" y="4023360"/>
            <a:ext cx="109728" cy="109728"/>
          </a:xfrm>
          <a:prstGeom prst="ellipse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10528" y="3950208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错误路径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10528" y="422452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5 种退出码：正常 0、无参 1、词法错 1、文件不存在 1、未知选项 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12  图形界面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Electron 桌面端：点一下就编译，还能直接看 print 的结果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52120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27632"/>
            <a:ext cx="45720" cy="89611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175564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7 类产物页签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048256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Token / 语法树 / 符号表 / 四元式 / 目标代码 / 诊断 / 运行输出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627632"/>
            <a:ext cx="52120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26480" y="1627632"/>
            <a:ext cx="45720" cy="89611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27648" y="175564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暗亮双主题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7648" y="2048256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长时间看代码不刺眼，截图直接能进报告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2633472"/>
            <a:ext cx="52120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2633472"/>
            <a:ext cx="45720" cy="89611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6968" y="276148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内建语法手册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" y="3054096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10 章 68 条，逐条实跑过；60 条带可运行示例，F1 唤起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2633472"/>
            <a:ext cx="52120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2633472"/>
            <a:ext cx="45720" cy="89611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27648" y="276148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示例库 15 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27648" y="3054096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分 6 组：基础 / 类型 / 函数 / 数组与控制流 / 综合 / 错误演示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3639312"/>
            <a:ext cx="52120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5800" y="3639312"/>
            <a:ext cx="45720" cy="89611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6968" y="376732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运行输出页签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" y="4059936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编译成功后自动调 gcc 链接并跑起来，把 print 的 stdout 抓回界面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26480" y="3639312"/>
            <a:ext cx="52120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26480" y="3639312"/>
            <a:ext cx="45720" cy="89611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27648" y="376732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中文路径兼容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27648" y="4059936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把源码与 exe 复制到临时目录再执行，绕开中文路径下文件 I/O 失效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" y="4773168"/>
            <a:ext cx="10789920" cy="566928"/>
          </a:xfrm>
          <a:prstGeom prst="rect">
            <a:avLst/>
          </a:prstGeom>
          <a:solidFill>
            <a:srgbClr val="FEFBF3"/>
          </a:solidFill>
          <a:ln w="12700">
            <a:solidFill>
              <a:srgbClr val="F0D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4910328"/>
            <a:ext cx="10332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7A5A1E"/>
                </a:solidFill>
                <a:latin typeface="微软雅黑"/>
              </a:rPr>
              <a:t>GUI 的编译链路与命令行完全一致：GUI 只是 spawn minic.exe 并读回产物，没有另写一套解析逻辑 —— 所以两边结果必然一致。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" y="5541264"/>
            <a:ext cx="10789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冒烟测试不依赖窗口：book-smoke 用 vm 加载真实的 renderer.js（含最小 DOM stub），跑的是生产代码路径而不是另写一份逻辑；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渲染 68 个手册条目、10 个章按钮、搜索过滤、空态、开关、定位、徽标全部有断言。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13  团队分工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12 人 · 6 个模块 · 1 个集成交付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3456432" cy="950976"/>
          </a:xfrm>
          <a:prstGeom prst="rect">
            <a:avLst/>
          </a:prstGeom>
          <a:solidFill>
            <a:srgbClr val="FFFFFF"/>
          </a:solidFill>
          <a:ln w="15240">
            <a:solidFill>
              <a:srgbClr val="2E6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27632"/>
            <a:ext cx="3456432" cy="4572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73936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词法分析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0440" y="1792224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2E6CE6"/>
                </a:solidFill>
                <a:latin typeface="微软雅黑"/>
              </a:rPr>
              <a:t>2人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3969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刘鑫泽  张吕柘冰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25112" y="1627632"/>
            <a:ext cx="3456432" cy="950976"/>
          </a:xfrm>
          <a:prstGeom prst="rect">
            <a:avLst/>
          </a:prstGeom>
          <a:solidFill>
            <a:srgbClr val="FFFFFF"/>
          </a:solidFill>
          <a:ln w="15240">
            <a:solidFill>
              <a:srgbClr val="0E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5112" y="1627632"/>
            <a:ext cx="3456432" cy="4572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07992" y="1773936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语法分析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59752" y="1792224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0EA5A5"/>
                </a:solidFill>
                <a:latin typeface="微软雅黑"/>
              </a:rPr>
              <a:t>2人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07992" y="213969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杨呈旭  郭晨赞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64424" y="1627632"/>
            <a:ext cx="3456432" cy="950976"/>
          </a:xfrm>
          <a:prstGeom prst="rect">
            <a:avLst/>
          </a:prstGeom>
          <a:solidFill>
            <a:srgbClr val="FFFFFF"/>
          </a:solidFill>
          <a:ln w="15240">
            <a:solidFill>
              <a:srgbClr val="15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64424" y="1627632"/>
            <a:ext cx="3456432" cy="45720"/>
          </a:xfrm>
          <a:prstGeom prst="rect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47304" y="1773936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符号表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99064" y="1792224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158A3E"/>
                </a:solidFill>
                <a:latin typeface="微软雅黑"/>
              </a:rPr>
              <a:t>2人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47304" y="213969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焦艺浩  李钊杰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2724912"/>
            <a:ext cx="3456432" cy="950976"/>
          </a:xfrm>
          <a:prstGeom prst="rect">
            <a:avLst/>
          </a:prstGeom>
          <a:solidFill>
            <a:srgbClr val="FFFFFF"/>
          </a:solidFill>
          <a:ln w="15240">
            <a:solidFill>
              <a:srgbClr val="C277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5800" y="2724912"/>
            <a:ext cx="3456432" cy="45720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2871216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语义分析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20440" y="2889504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C2770A"/>
                </a:solidFill>
                <a:latin typeface="微软雅黑"/>
              </a:rPr>
              <a:t>3人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323697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陆禹辰  陕海波  于霄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25112" y="2724912"/>
            <a:ext cx="3456432" cy="950976"/>
          </a:xfrm>
          <a:prstGeom prst="rect">
            <a:avLst/>
          </a:prstGeom>
          <a:solidFill>
            <a:srgbClr val="FFFFFF"/>
          </a:solidFill>
          <a:ln w="1524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25112" y="2724912"/>
            <a:ext cx="3456432" cy="4572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07992" y="2871216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中间代码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59752" y="2889504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8B5CF6"/>
                </a:solidFill>
                <a:latin typeface="微软雅黑"/>
              </a:rPr>
              <a:t>1人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07992" y="323697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张灏宇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964424" y="2724912"/>
            <a:ext cx="3456432" cy="950976"/>
          </a:xfrm>
          <a:prstGeom prst="rect">
            <a:avLst/>
          </a:prstGeom>
          <a:solidFill>
            <a:srgbClr val="FFFFFF"/>
          </a:solidFill>
          <a:ln w="1524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64424" y="2724912"/>
            <a:ext cx="3456432" cy="457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47304" y="2871216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目标代码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99064" y="2889504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C0392B"/>
                </a:solidFill>
                <a:latin typeface="微软雅黑"/>
              </a:rPr>
              <a:t>1人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47304" y="323697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王逸凡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5800" y="3968496"/>
            <a:ext cx="3456432" cy="950976"/>
          </a:xfrm>
          <a:prstGeom prst="rect">
            <a:avLst/>
          </a:prstGeom>
          <a:solidFill>
            <a:srgbClr val="F6F9FF"/>
          </a:solidFill>
          <a:ln w="17780">
            <a:solidFill>
              <a:srgbClr val="141F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85800" y="3968496"/>
            <a:ext cx="3456432" cy="45720"/>
          </a:xfrm>
          <a:prstGeom prst="rect">
            <a:avLst/>
          </a:prstGeom>
          <a:solidFill>
            <a:srgbClr val="141F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4114800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集成与交付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20440" y="4133087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141F38"/>
                </a:solidFill>
                <a:latin typeface="微软雅黑"/>
              </a:rPr>
              <a:t>1人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" y="448056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鲍方乐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26280" y="3968496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F38"/>
                </a:solidFill>
                <a:latin typeface="微软雅黑"/>
              </a:rPr>
              <a:t>协作机制</a:t>
            </a:r>
          </a:p>
        </p:txBody>
      </p:sp>
      <p:sp>
        <p:nvSpPr>
          <p:cNvPr id="42" name="Oval 41"/>
          <p:cNvSpPr/>
          <p:nvPr/>
        </p:nvSpPr>
        <p:spPr>
          <a:xfrm>
            <a:off x="4526280" y="439826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800600" y="4315968"/>
            <a:ext cx="6583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main 只接受 dev 快进合并，feature/* 一人一条，全部通过 PR 合入</a:t>
            </a:r>
          </a:p>
        </p:txBody>
      </p:sp>
      <p:sp>
        <p:nvSpPr>
          <p:cNvPr id="44" name="Oval 43"/>
          <p:cNvSpPr/>
          <p:nvPr/>
        </p:nvSpPr>
        <p:spPr>
          <a:xfrm>
            <a:off x="4526280" y="478231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00600" y="4700016"/>
            <a:ext cx="6583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接口冻结在 docs/interface.md，任何签名改动都要登记并通知相关组</a:t>
            </a:r>
          </a:p>
        </p:txBody>
      </p:sp>
      <p:sp>
        <p:nvSpPr>
          <p:cNvPr id="46" name="Oval 45"/>
          <p:cNvSpPr/>
          <p:nvPr/>
        </p:nvSpPr>
        <p:spPr>
          <a:xfrm>
            <a:off x="4526280" y="5166359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800600" y="5084064"/>
            <a:ext cx="6583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每个模块完成后由组长按验收指南逐条复核，再合入 dev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85800" y="5632704"/>
            <a:ext cx="10789920" cy="640080"/>
          </a:xfrm>
          <a:prstGeom prst="rect">
            <a:avLst/>
          </a:prstGeom>
          <a:solidFill>
            <a:srgbClr val="FEFBF3"/>
          </a:solidFill>
          <a:ln w="12700">
            <a:solidFill>
              <a:srgbClr val="F0D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96112" y="5760720"/>
            <a:ext cx="10332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7A5A1E"/>
                </a:solidFill>
                <a:latin typeface="微软雅黑"/>
              </a:rPr>
              <a:t>如实说明：语义与目标代码两个模块在收尾阶段由组长代为落地（原稿来自陕海波方案），Git 署名与纸面分工的差异已在 docs/plans/README.md 第三节逐条登记。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14  已知限制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哪些做不到，我们写清楚了 —— 而不是等验收时被发现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72768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语言特性层面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194767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6537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不支持 += %= 等复合赋值、取模 %、位运算、三目 ?: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2423160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340864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关系运算符按 C++ 分层（== != 低于 &lt; &lt;= &gt; &gt;=）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89864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281635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不支持 for / do-while / break / continue / switch / goto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3374136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29184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不支持多维数组、字符串字面量赋值、逗号表达式、链式赋值</a:t>
            </a:r>
          </a:p>
        </p:txBody>
      </p:sp>
      <p:sp>
        <p:nvSpPr>
          <p:cNvPr id="15" name="Oval 14"/>
          <p:cNvSpPr/>
          <p:nvPr/>
        </p:nvSpPr>
        <p:spPr>
          <a:xfrm>
            <a:off x="685800" y="384962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76732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不支持函数原型声明，函数须先定义后调用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432511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424281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不支持结构体 / 枚举 / typedef（char 已按整型参与算术，同 C）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1572768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语义与实现层面</a:t>
            </a:r>
          </a:p>
        </p:txBody>
      </p:sp>
      <p:sp>
        <p:nvSpPr>
          <p:cNvPr id="20" name="Oval 19"/>
          <p:cNvSpPr/>
          <p:nvPr/>
        </p:nvSpPr>
        <p:spPr>
          <a:xfrm>
            <a:off x="6263640" y="194767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59" y="186537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顶层声明必须先于语句（LL(1) 的固有约束，块内不限）</a:t>
            </a:r>
          </a:p>
        </p:txBody>
      </p:sp>
      <p:sp>
        <p:nvSpPr>
          <p:cNvPr id="22" name="Oval 21"/>
          <p:cNvSpPr/>
          <p:nvPr/>
        </p:nvSpPr>
        <p:spPr>
          <a:xfrm>
            <a:off x="6263640" y="2423160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59" y="2340864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语义已查实参个数 / return 类型 / 常量下标越界；变量下标越界不查</a:t>
            </a:r>
          </a:p>
        </p:txBody>
      </p:sp>
      <p:sp>
        <p:nvSpPr>
          <p:cNvPr id="24" name="Oval 23"/>
          <p:cNvSpPr/>
          <p:nvPr/>
        </p:nvSpPr>
        <p:spPr>
          <a:xfrm>
            <a:off x="6263640" y="289864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37959" y="281635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if 条件是 int 时不报错，只对 &amp;&amp; || 强制 bool</a:t>
            </a:r>
          </a:p>
        </p:txBody>
      </p:sp>
      <p:sp>
        <p:nvSpPr>
          <p:cNvPr id="26" name="Oval 25"/>
          <p:cNvSpPr/>
          <p:nvPr/>
        </p:nvSpPr>
        <p:spPr>
          <a:xfrm>
            <a:off x="6263640" y="3374136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37959" y="329184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浮点常量 1. 合法、.5 非法</a:t>
            </a:r>
          </a:p>
        </p:txBody>
      </p:sp>
      <p:sp>
        <p:nvSpPr>
          <p:cNvPr id="28" name="Oval 27"/>
          <p:cNvSpPr/>
          <p:nvPr/>
        </p:nvSpPr>
        <p:spPr>
          <a:xfrm>
            <a:off x="6263640" y="384962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37959" y="376732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不支持字符串常量（词法识别，语义与代码生成未接）</a:t>
            </a:r>
          </a:p>
        </p:txBody>
      </p:sp>
      <p:sp>
        <p:nvSpPr>
          <p:cNvPr id="30" name="Oval 29"/>
          <p:cNvSpPr/>
          <p:nvPr/>
        </p:nvSpPr>
        <p:spPr>
          <a:xfrm>
            <a:off x="6263640" y="432511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37959" y="424281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代码生成不做寄存器分配与 CSE，只有常量折叠 + -O 窥孔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5800" y="4626864"/>
            <a:ext cx="10789920" cy="914400"/>
          </a:xfrm>
          <a:prstGeom prst="rect">
            <a:avLst/>
          </a:prstGeom>
          <a:solidFill>
            <a:srgbClr val="F6F9FF"/>
          </a:solidFill>
          <a:ln w="12700">
            <a:solidFill>
              <a:srgbClr val="C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96112" y="4718304"/>
            <a:ext cx="10332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为什么要主动列这份清单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6112" y="50292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2A3E5C"/>
                </a:solidFill>
                <a:latin typeface="微软雅黑"/>
              </a:rPr>
              <a:t>这几条全部来自 docs/MiniC语法支持清单.md 的实测矩阵 —— 每一条都实际编译过，不是照抄文档写"可能不支持"。支持与不支持都写清楚，比含糊说"基本都支持"更经得起追问。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5650992"/>
            <a:ext cx="1078992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其中"顶层声明必须先于语句"来自产生式 程序 → 声明部分 语句部分：LL(1) 一旦看到 FOLLOW(声明部分) 就必须归约 ε，符号永久出栈、无法回头。要放宽只能改文法或换分析算法，属设计取舍而非缺陷。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15  工程化加固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以代码行为为准的十项收口 —— 不新增语言特性，只修真实缺陷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481328"/>
            <a:ext cx="2542032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481328"/>
            <a:ext cx="2542032" cy="457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82496"/>
            <a:ext cx="25420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C0392B"/>
                </a:solidFill>
                <a:latin typeface="微软雅黑"/>
              </a:rPr>
              <a:t>189 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231136"/>
            <a:ext cx="25420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1000 个空函数编译</a:t>
            </a:r>
          </a:p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修复前 68 150 ms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19856" y="1481328"/>
            <a:ext cx="2542032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19856" y="1481328"/>
            <a:ext cx="2542032" cy="45720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19856" y="1682496"/>
            <a:ext cx="25420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C2770A"/>
                </a:solidFill>
                <a:latin typeface="微软雅黑"/>
              </a:rPr>
              <a:t>4 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19856" y="2231136"/>
            <a:ext cx="25420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新增静态检查</a:t>
            </a:r>
          </a:p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2 个错误 + 2 个警告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53912" y="1481328"/>
            <a:ext cx="2542032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53912" y="1481328"/>
            <a:ext cx="2542032" cy="45720"/>
          </a:xfrm>
          <a:prstGeom prst="rect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53912" y="1682496"/>
            <a:ext cx="25420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158A3E"/>
                </a:solidFill>
                <a:latin typeface="微软雅黑"/>
              </a:rPr>
              <a:t>3 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53912" y="2231136"/>
            <a:ext cx="25420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符号表死表接上</a:t>
            </a:r>
          </a:p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类型 / 形参 / 标号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87968" y="1481328"/>
            <a:ext cx="2542032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887968" y="1481328"/>
            <a:ext cx="2542032" cy="4572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87968" y="1682496"/>
            <a:ext cx="25420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0EA5A5"/>
                </a:solidFill>
                <a:latin typeface="微软雅黑"/>
              </a:rPr>
              <a:t>89 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87968" y="2231136"/>
            <a:ext cx="25420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-O 前后零差异</a:t>
            </a:r>
          </a:p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stdout + 退出码</a:t>
            </a:r>
          </a:p>
        </p:txBody>
      </p:sp>
      <p:sp>
        <p:nvSpPr>
          <p:cNvPr id="22" name="Oval 21"/>
          <p:cNvSpPr/>
          <p:nvPr/>
        </p:nvSpPr>
        <p:spPr>
          <a:xfrm>
            <a:off x="685800" y="304495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2962656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①  分析轨迹按需记录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3186684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RecordStep 每步都拼「整栈 + 剩余全部 Token」，退化成 O(n²)；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改为默认关闭，只有 --dump-parse 打开。.parse.txt 8 212 字符逐字不变。</a:t>
            </a:r>
          </a:p>
        </p:txBody>
      </p:sp>
      <p:sp>
        <p:nvSpPr>
          <p:cNvPr id="25" name="Oval 24"/>
          <p:cNvSpPr/>
          <p:nvPr/>
        </p:nvSpPr>
        <p:spPr>
          <a:xfrm>
            <a:off x="685800" y="394106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3858768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②  四项静态检查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4082796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数组名不带下标 / 常量下标越界或为负 / 非 void 无 return /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无入口也无顶层语句。后两项只能是警告，否则 10 个既有用例全崩。</a:t>
            </a:r>
          </a:p>
        </p:txBody>
      </p:sp>
      <p:sp>
        <p:nvSpPr>
          <p:cNvPr id="28" name="Oval 27"/>
          <p:cNvSpPr/>
          <p:nvPr/>
        </p:nvSpPr>
        <p:spPr>
          <a:xfrm>
            <a:off x="685800" y="4837176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4754880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③  符号表三张空表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4978908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INT[5] 数组类型行、-- Params 节、RecLabel 接上；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标号由 IR 的 LABEL 四元式登记，dump 必须挪到 IR 之后。</a:t>
            </a:r>
          </a:p>
        </p:txBody>
      </p:sp>
      <p:sp>
        <p:nvSpPr>
          <p:cNvPr id="31" name="Oval 30"/>
          <p:cNvSpPr/>
          <p:nvPr/>
        </p:nvSpPr>
        <p:spPr>
          <a:xfrm>
            <a:off x="6263640" y="304495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37959" y="2962656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④  命令行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37959" y="3186684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-h / --help、-V / --version；错误上限 100 条，超出只计数不打印，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末尾汇总一行说明省略了多少条。</a:t>
            </a:r>
          </a:p>
        </p:txBody>
      </p:sp>
      <p:sp>
        <p:nvSpPr>
          <p:cNvPr id="34" name="Oval 33"/>
          <p:cNvSpPr/>
          <p:nvPr/>
        </p:nvSpPr>
        <p:spPr>
          <a:xfrm>
            <a:off x="6263640" y="394106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37959" y="3858768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⑤  -O 窥孔优化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37959" y="4082796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常量条件跳转 / 删不可达 / 删空跳 / 删死临时量与死标号，共四轮。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第一版把条件跳转当块结束，删掉 if 真分支 —— 16 个用例输出变了。</a:t>
            </a:r>
          </a:p>
        </p:txBody>
      </p:sp>
      <p:sp>
        <p:nvSpPr>
          <p:cNvPr id="37" name="Oval 36"/>
          <p:cNvSpPr/>
          <p:nvPr/>
        </p:nvSpPr>
        <p:spPr>
          <a:xfrm>
            <a:off x="6263640" y="4837176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37959" y="4754880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⑥  持续集成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37959" y="4978908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windows-latest + MinGW-w64：工具链 → build.bat test → 五类产物 →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-O 行为一致性冒烟。已在本机逐步骤复现，待补令牌权限启用。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85800" y="5687568"/>
            <a:ext cx="10789920" cy="603504"/>
          </a:xfrm>
          <a:prstGeom prst="rect">
            <a:avLst/>
          </a:prstGeom>
          <a:solidFill>
            <a:srgbClr val="F6F9FF"/>
          </a:solidFill>
          <a:ln w="12700">
            <a:solidFill>
              <a:srgbClr val="C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96112" y="5833872"/>
            <a:ext cx="103327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41F38"/>
                </a:solidFill>
                <a:latin typeface="微软雅黑"/>
              </a:rPr>
              <a:t>唯一不变量：默认编译路径的产物逐字不变 —— 18 个 quad 基线、30 个 codegen 基线、27 个语义基线一字节未改。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16  项目总结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三个值得讲的收获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10789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27632"/>
            <a:ext cx="54864" cy="12984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810512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2E6CE6"/>
                </a:solidFill>
                <a:latin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27632" y="1810512"/>
            <a:ext cx="9509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F38"/>
                </a:solidFill>
                <a:latin typeface="微软雅黑"/>
              </a:rPr>
              <a:t>中间产物落盘，是最便宜的调试手段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27632" y="219456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把 Token、AST、符号表、四元式、汇编全部写成文件，出问题时不用打断点猜。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答辩时也是最好的证据：说"类型转换插对了"，直接把 .quad.txt 和 .asm 并排一放。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108960"/>
            <a:ext cx="10789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3108960"/>
            <a:ext cx="54864" cy="1298448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329184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0EA5A5"/>
                </a:solidFill>
                <a:latin typeface="微软雅黑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7632" y="3291840"/>
            <a:ext cx="9509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F38"/>
                </a:solidFill>
                <a:latin typeface="微软雅黑"/>
              </a:rPr>
              <a:t>测试要锁住每一层的结构，而不是只看最终输出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27632" y="3675888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端到端只比 stdout 的话，求值顺序错了、临时变量编号乱了，输出照样是对的。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所以 11 套回归各自锁自己那一层的产物；语义甚至锁到"行列号 + 措辞"。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4590288"/>
            <a:ext cx="10789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" y="4590288"/>
            <a:ext cx="54864" cy="1298448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" y="47731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C2770A"/>
                </a:solidFill>
                <a:latin typeface="微软雅黑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27632" y="4773168"/>
            <a:ext cx="9509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F38"/>
                </a:solidFill>
                <a:latin typeface="微软雅黑"/>
              </a:rPr>
              <a:t>假绿灯比红灯更危险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27632" y="5157216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语义模块最初四轮提交都"能编译"，实际是文件放错目录、没进编译列表，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等于什么都没测。最后靠 build.bat list 的文件数才查出来。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F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10312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200" b="1">
                <a:solidFill>
                  <a:srgbClr val="FFFFFF"/>
                </a:solidFill>
                <a:latin typeface="微软雅黑"/>
              </a:rPr>
              <a:t>谢谢，请提问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3127248"/>
            <a:ext cx="3108960" cy="2286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4015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A9C2E8"/>
                </a:solidFill>
                <a:latin typeface="微软雅黑"/>
              </a:rPr>
              <a:t>第 5 组  ·  MiniC 编译器（挑战版）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84632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300" b="0">
                <a:solidFill>
                  <a:srgbClr val="8FA6C4"/>
                </a:solidFill>
                <a:latin typeface="Consolas"/>
              </a:rPr>
              <a:t>现场可演示：</a:t>
            </a:r>
          </a:p>
          <a:p>
            <a:pPr algn="l">
              <a:lnSpc>
                <a:spcPct val="160000"/>
              </a:lnSpc>
            </a:pPr>
            <a:r>
              <a:rPr sz="1300" b="0">
                <a:solidFill>
                  <a:srgbClr val="8FA6C4"/>
                </a:solidFill>
                <a:latin typeface="Consolas"/>
              </a:rPr>
              <a:t>build.bat test            11 套回归全绿</a:t>
            </a:r>
          </a:p>
          <a:p>
            <a:pPr algn="l">
              <a:lnSpc>
                <a:spcPct val="160000"/>
              </a:lnSpc>
            </a:pPr>
            <a:r>
              <a:rPr sz="1300" b="0">
                <a:solidFill>
                  <a:srgbClr val="8FA6C4"/>
                </a:solidFill>
                <a:latin typeface="Consolas"/>
              </a:rPr>
              <a:t>build.bat run tests\test.mc  六份中间产物 + 汇编</a:t>
            </a:r>
          </a:p>
          <a:p>
            <a:pPr algn="l">
              <a:lnSpc>
                <a:spcPct val="160000"/>
              </a:lnSpc>
            </a:pPr>
            <a:r>
              <a:rPr sz="1300" b="0">
                <a:solidFill>
                  <a:srgbClr val="8FA6C4"/>
                </a:solidFill>
                <a:latin typeface="Consolas"/>
              </a:rPr>
              <a:t>gui\启动GUI.bat            点编译，直接看 print 的输出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